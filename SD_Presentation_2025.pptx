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Override1.xml" ContentType="application/vnd.openxmlformats-officedocument.themeOverr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66" r:id="rId5"/>
    <p:sldId id="259" r:id="rId6"/>
    <p:sldId id="267" r:id="rId7"/>
    <p:sldId id="270" r:id="rId8"/>
    <p:sldId id="268" r:id="rId9"/>
    <p:sldId id="271" r:id="rId10"/>
    <p:sldId id="273" r:id="rId11"/>
    <p:sldId id="274" r:id="rId12"/>
    <p:sldId id="269" r:id="rId13"/>
    <p:sldId id="265" r:id="rId14"/>
    <p:sldId id="260" r:id="rId15"/>
    <p:sldId id="261" r:id="rId16"/>
    <p:sldId id="263" r:id="rId17"/>
    <p:sldId id="26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708" autoAdjust="0"/>
  </p:normalViewPr>
  <p:slideViewPr>
    <p:cSldViewPr snapToGrid="0">
      <p:cViewPr varScale="1">
        <p:scale>
          <a:sx n="105" d="100"/>
          <a:sy n="105" d="100"/>
        </p:scale>
        <p:origin x="798" y="96"/>
      </p:cViewPr>
      <p:guideLst/>
    </p:cSldViewPr>
  </p:slideViewPr>
  <p:outlineViewPr>
    <p:cViewPr>
      <p:scale>
        <a:sx n="33" d="100"/>
        <a:sy n="33" d="100"/>
      </p:scale>
      <p:origin x="0" y="-2004"/>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2.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image" Target="../media/image14.png"/></Relationships>
</file>

<file path=ppt/diagrams/_rels/data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ata4.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2.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image" Target="../media/image14.png"/></Relationships>
</file>

<file path=ppt/diagrams/_rels/drawing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4.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dgm:fillClrLst>
    <dgm:linClrLst meth="repeat">
      <a:schemeClr val="lt1">
        <a:alpha val="0"/>
      </a:schemeClr>
    </dgm:linClrLst>
    <dgm:effectClrLst/>
    <dgm:txLinClrLst/>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2A934C5-6BB0-4D97-9525-2AF9F5C216A4}"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4148894A-6EF9-4CA0-9674-4C434916FABE}">
      <dgm:prSet/>
      <dgm:spPr/>
      <dgm:t>
        <a:bodyPr/>
        <a:lstStyle/>
        <a:p>
          <a:pPr>
            <a:lnSpc>
              <a:spcPct val="100000"/>
            </a:lnSpc>
          </a:pPr>
          <a:r>
            <a:rPr lang="en-US"/>
            <a:t>Utilizes communication and control through the Core2 UART(G13/G14) interface.</a:t>
          </a:r>
          <a:endParaRPr lang="en-US" dirty="0"/>
        </a:p>
      </dgm:t>
    </dgm:pt>
    <dgm:pt modelId="{5E99A45B-BEA3-4601-BD88-F0742EC063B4}" type="parTrans" cxnId="{FD398597-46EC-436F-B688-754E75387699}">
      <dgm:prSet/>
      <dgm:spPr/>
      <dgm:t>
        <a:bodyPr/>
        <a:lstStyle/>
        <a:p>
          <a:endParaRPr lang="en-US"/>
        </a:p>
      </dgm:t>
    </dgm:pt>
    <dgm:pt modelId="{F294E5DC-6A61-4DB3-B7AB-C6C2F9A629EB}" type="sibTrans" cxnId="{FD398597-46EC-436F-B688-754E75387699}">
      <dgm:prSet/>
      <dgm:spPr/>
      <dgm:t>
        <a:bodyPr/>
        <a:lstStyle/>
        <a:p>
          <a:pPr>
            <a:lnSpc>
              <a:spcPct val="100000"/>
            </a:lnSpc>
          </a:pPr>
          <a:endParaRPr lang="en-US"/>
        </a:p>
      </dgm:t>
    </dgm:pt>
    <dgm:pt modelId="{52A03498-B9F1-4D15-9B39-3DD47B104DC6}">
      <dgm:prSet/>
      <dgm:spPr/>
      <dgm:t>
        <a:bodyPr/>
        <a:lstStyle/>
        <a:p>
          <a:pPr>
            <a:lnSpc>
              <a:spcPct val="100000"/>
            </a:lnSpc>
          </a:pPr>
          <a:r>
            <a:rPr lang="en-US"/>
            <a:t>Performs integrated offline AI computing and data communication.</a:t>
          </a:r>
          <a:endParaRPr lang="en-US" dirty="0"/>
        </a:p>
      </dgm:t>
    </dgm:pt>
    <dgm:pt modelId="{5E3F26BB-C0BB-4587-9EC7-7EB1C8D67F3D}" type="parTrans" cxnId="{F3D511CF-B21F-4739-B157-B3F5C19787A1}">
      <dgm:prSet/>
      <dgm:spPr/>
      <dgm:t>
        <a:bodyPr/>
        <a:lstStyle/>
        <a:p>
          <a:endParaRPr lang="en-US"/>
        </a:p>
      </dgm:t>
    </dgm:pt>
    <dgm:pt modelId="{F3F3B1D7-6D83-4EDD-9B4F-B6DBF399ABCB}" type="sibTrans" cxnId="{F3D511CF-B21F-4739-B157-B3F5C19787A1}">
      <dgm:prSet/>
      <dgm:spPr/>
      <dgm:t>
        <a:bodyPr/>
        <a:lstStyle/>
        <a:p>
          <a:pPr>
            <a:lnSpc>
              <a:spcPct val="100000"/>
            </a:lnSpc>
          </a:pPr>
          <a:endParaRPr lang="en-US"/>
        </a:p>
      </dgm:t>
    </dgm:pt>
    <dgm:pt modelId="{BB854E5A-BF39-44CD-A8BA-3D4071A7D390}">
      <dgm:prSet/>
      <dgm:spPr/>
      <dgm:t>
        <a:bodyPr/>
        <a:lstStyle/>
        <a:p>
          <a:pPr>
            <a:lnSpc>
              <a:spcPct val="100000"/>
            </a:lnSpc>
          </a:pPr>
          <a:r>
            <a:rPr lang="en-US"/>
            <a:t>Energy efficient operation of 1.5W power consumption. 1 GB system memory, 3GB to hardware acceleration.</a:t>
          </a:r>
          <a:endParaRPr lang="en-US" dirty="0"/>
        </a:p>
      </dgm:t>
    </dgm:pt>
    <dgm:pt modelId="{757134E5-BAD4-441A-82DD-E0CA2A83200E}" type="parTrans" cxnId="{DDBB927F-B284-431E-AB75-9C151C862885}">
      <dgm:prSet/>
      <dgm:spPr/>
      <dgm:t>
        <a:bodyPr/>
        <a:lstStyle/>
        <a:p>
          <a:endParaRPr lang="en-US"/>
        </a:p>
      </dgm:t>
    </dgm:pt>
    <dgm:pt modelId="{AE9B0B0E-D54E-4E60-97CF-7CC19BA6439B}" type="sibTrans" cxnId="{DDBB927F-B284-431E-AB75-9C151C862885}">
      <dgm:prSet/>
      <dgm:spPr/>
      <dgm:t>
        <a:bodyPr/>
        <a:lstStyle/>
        <a:p>
          <a:pPr>
            <a:lnSpc>
              <a:spcPct val="100000"/>
            </a:lnSpc>
          </a:pPr>
          <a:endParaRPr lang="en-US"/>
        </a:p>
      </dgm:t>
    </dgm:pt>
    <dgm:pt modelId="{605466F7-64BE-46A2-999A-416693571649}">
      <dgm:prSet/>
      <dgm:spPr/>
      <dgm:t>
        <a:bodyPr/>
        <a:lstStyle/>
        <a:p>
          <a:pPr>
            <a:lnSpc>
              <a:spcPct val="100000"/>
            </a:lnSpc>
          </a:pPr>
          <a:r>
            <a:rPr lang="en-US"/>
            <a:t>Voice activated phrase “Call Help” in case of emergency.</a:t>
          </a:r>
          <a:endParaRPr lang="en-US" dirty="0"/>
        </a:p>
      </dgm:t>
    </dgm:pt>
    <dgm:pt modelId="{CC52342F-E860-467F-BD61-4105D51A4C26}" type="parTrans" cxnId="{DDC3D960-146D-4E61-894A-0D87035B6EFD}">
      <dgm:prSet/>
      <dgm:spPr/>
      <dgm:t>
        <a:bodyPr/>
        <a:lstStyle/>
        <a:p>
          <a:endParaRPr lang="en-US"/>
        </a:p>
      </dgm:t>
    </dgm:pt>
    <dgm:pt modelId="{B92EB028-F34A-498A-A088-FAEAE0D38572}" type="sibTrans" cxnId="{DDC3D960-146D-4E61-894A-0D87035B6EFD}">
      <dgm:prSet/>
      <dgm:spPr/>
    </dgm:pt>
    <dgm:pt modelId="{E9842F35-A755-4008-8D81-9D6C9EEDB4EC}" type="pres">
      <dgm:prSet presAssocID="{B2A934C5-6BB0-4D97-9525-2AF9F5C216A4}" presName="root" presStyleCnt="0">
        <dgm:presLayoutVars>
          <dgm:dir/>
          <dgm:resizeHandles val="exact"/>
        </dgm:presLayoutVars>
      </dgm:prSet>
      <dgm:spPr/>
    </dgm:pt>
    <dgm:pt modelId="{C61BE227-3126-44FE-A241-1C55DD5D0B2E}" type="pres">
      <dgm:prSet presAssocID="{B2A934C5-6BB0-4D97-9525-2AF9F5C216A4}" presName="container" presStyleCnt="0">
        <dgm:presLayoutVars>
          <dgm:dir/>
          <dgm:resizeHandles val="exact"/>
        </dgm:presLayoutVars>
      </dgm:prSet>
      <dgm:spPr/>
    </dgm:pt>
    <dgm:pt modelId="{A1DD0923-61CC-4DA6-BA25-F4483E591BEC}" type="pres">
      <dgm:prSet presAssocID="{4148894A-6EF9-4CA0-9674-4C434916FABE}" presName="compNode" presStyleCnt="0"/>
      <dgm:spPr/>
    </dgm:pt>
    <dgm:pt modelId="{670B3340-666D-47FA-9D66-8C45454CC632}" type="pres">
      <dgm:prSet presAssocID="{4148894A-6EF9-4CA0-9674-4C434916FABE}" presName="iconBgRect" presStyleLbl="bgShp" presStyleIdx="0" presStyleCnt="4"/>
      <dgm:spPr/>
    </dgm:pt>
    <dgm:pt modelId="{528D86E3-2133-45B8-949A-717E18C12DC1}" type="pres">
      <dgm:prSet presAssocID="{4148894A-6EF9-4CA0-9674-4C434916FAB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owchart"/>
        </a:ext>
      </dgm:extLst>
    </dgm:pt>
    <dgm:pt modelId="{4372AFBB-E37F-4F3C-A2D3-E56A3C80DD6C}" type="pres">
      <dgm:prSet presAssocID="{4148894A-6EF9-4CA0-9674-4C434916FABE}" presName="spaceRect" presStyleCnt="0"/>
      <dgm:spPr/>
    </dgm:pt>
    <dgm:pt modelId="{08CBF907-D522-43CC-951C-7DA6B043B3A5}" type="pres">
      <dgm:prSet presAssocID="{4148894A-6EF9-4CA0-9674-4C434916FABE}" presName="textRect" presStyleLbl="revTx" presStyleIdx="0" presStyleCnt="4">
        <dgm:presLayoutVars>
          <dgm:chMax val="1"/>
          <dgm:chPref val="1"/>
        </dgm:presLayoutVars>
      </dgm:prSet>
      <dgm:spPr/>
    </dgm:pt>
    <dgm:pt modelId="{BF3AE66D-1608-41A1-A46F-DABACF40734B}" type="pres">
      <dgm:prSet presAssocID="{F294E5DC-6A61-4DB3-B7AB-C6C2F9A629EB}" presName="sibTrans" presStyleLbl="sibTrans2D1" presStyleIdx="0" presStyleCnt="0"/>
      <dgm:spPr/>
    </dgm:pt>
    <dgm:pt modelId="{53F64269-AF07-43EE-BF93-B9758B1546A2}" type="pres">
      <dgm:prSet presAssocID="{52A03498-B9F1-4D15-9B39-3DD47B104DC6}" presName="compNode" presStyleCnt="0"/>
      <dgm:spPr/>
    </dgm:pt>
    <dgm:pt modelId="{C3509C5A-220B-44F4-B748-1E9B37054E97}" type="pres">
      <dgm:prSet presAssocID="{52A03498-B9F1-4D15-9B39-3DD47B104DC6}" presName="iconBgRect" presStyleLbl="bgShp" presStyleIdx="1" presStyleCnt="4"/>
      <dgm:spPr/>
    </dgm:pt>
    <dgm:pt modelId="{D0F75168-3B8D-4896-95A8-6DCEE24D8B11}" type="pres">
      <dgm:prSet presAssocID="{52A03498-B9F1-4D15-9B39-3DD47B104DC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obot"/>
        </a:ext>
      </dgm:extLst>
    </dgm:pt>
    <dgm:pt modelId="{F7920687-D5DD-4876-9E76-EBAAD8C40A0B}" type="pres">
      <dgm:prSet presAssocID="{52A03498-B9F1-4D15-9B39-3DD47B104DC6}" presName="spaceRect" presStyleCnt="0"/>
      <dgm:spPr/>
    </dgm:pt>
    <dgm:pt modelId="{EB9B73F2-22E9-4D84-8F6F-074C7FA4A3A1}" type="pres">
      <dgm:prSet presAssocID="{52A03498-B9F1-4D15-9B39-3DD47B104DC6}" presName="textRect" presStyleLbl="revTx" presStyleIdx="1" presStyleCnt="4">
        <dgm:presLayoutVars>
          <dgm:chMax val="1"/>
          <dgm:chPref val="1"/>
        </dgm:presLayoutVars>
      </dgm:prSet>
      <dgm:spPr/>
    </dgm:pt>
    <dgm:pt modelId="{10E27154-3C71-47A0-A4FB-40EC22D674BD}" type="pres">
      <dgm:prSet presAssocID="{F3F3B1D7-6D83-4EDD-9B4F-B6DBF399ABCB}" presName="sibTrans" presStyleLbl="sibTrans2D1" presStyleIdx="0" presStyleCnt="0"/>
      <dgm:spPr/>
    </dgm:pt>
    <dgm:pt modelId="{F1E11CCF-7920-498D-997A-847EFE6C0BEE}" type="pres">
      <dgm:prSet presAssocID="{BB854E5A-BF39-44CD-A8BA-3D4071A7D390}" presName="compNode" presStyleCnt="0"/>
      <dgm:spPr/>
    </dgm:pt>
    <dgm:pt modelId="{0C632253-DE52-47DF-856F-4E4BA77BE01D}" type="pres">
      <dgm:prSet presAssocID="{BB854E5A-BF39-44CD-A8BA-3D4071A7D390}" presName="iconBgRect" presStyleLbl="bgShp" presStyleIdx="2" presStyleCnt="4"/>
      <dgm:spPr/>
    </dgm:pt>
    <dgm:pt modelId="{217F8B9D-2D4E-419D-9C7E-26CFEB79CAA1}" type="pres">
      <dgm:prSet presAssocID="{BB854E5A-BF39-44CD-A8BA-3D4071A7D390}"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ightbulb"/>
        </a:ext>
      </dgm:extLst>
    </dgm:pt>
    <dgm:pt modelId="{8B91A143-0623-456A-BDC1-F18F9A8F9819}" type="pres">
      <dgm:prSet presAssocID="{BB854E5A-BF39-44CD-A8BA-3D4071A7D390}" presName="spaceRect" presStyleCnt="0"/>
      <dgm:spPr/>
    </dgm:pt>
    <dgm:pt modelId="{029D312D-5615-4EAE-9E97-13284569C679}" type="pres">
      <dgm:prSet presAssocID="{BB854E5A-BF39-44CD-A8BA-3D4071A7D390}" presName="textRect" presStyleLbl="revTx" presStyleIdx="2" presStyleCnt="4">
        <dgm:presLayoutVars>
          <dgm:chMax val="1"/>
          <dgm:chPref val="1"/>
        </dgm:presLayoutVars>
      </dgm:prSet>
      <dgm:spPr/>
    </dgm:pt>
    <dgm:pt modelId="{1563A6DF-9C81-46F2-B8EE-E0C762684D2B}" type="pres">
      <dgm:prSet presAssocID="{AE9B0B0E-D54E-4E60-97CF-7CC19BA6439B}" presName="sibTrans" presStyleLbl="sibTrans2D1" presStyleIdx="0" presStyleCnt="0"/>
      <dgm:spPr/>
    </dgm:pt>
    <dgm:pt modelId="{D52F069D-A68F-4294-A0F3-F297C3D85449}" type="pres">
      <dgm:prSet presAssocID="{605466F7-64BE-46A2-999A-416693571649}" presName="compNode" presStyleCnt="0"/>
      <dgm:spPr/>
    </dgm:pt>
    <dgm:pt modelId="{2015A42C-B9C5-478E-8388-6889B14092F7}" type="pres">
      <dgm:prSet presAssocID="{605466F7-64BE-46A2-999A-416693571649}" presName="iconBgRect" presStyleLbl="bgShp" presStyleIdx="3" presStyleCnt="4"/>
      <dgm:spPr/>
    </dgm:pt>
    <dgm:pt modelId="{46ED7D08-13E2-423C-B6DD-EBBC9E5F2DD2}" type="pres">
      <dgm:prSet presAssocID="{605466F7-64BE-46A2-999A-416693571649}" presName="icon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Ambulance with solid fill"/>
        </a:ext>
      </dgm:extLst>
    </dgm:pt>
    <dgm:pt modelId="{AD4AF437-5513-46AF-848D-9D537BB4C8B7}" type="pres">
      <dgm:prSet presAssocID="{605466F7-64BE-46A2-999A-416693571649}" presName="spaceRect" presStyleCnt="0"/>
      <dgm:spPr/>
    </dgm:pt>
    <dgm:pt modelId="{A85573E8-056A-49A4-81C9-9CEC691921E4}" type="pres">
      <dgm:prSet presAssocID="{605466F7-64BE-46A2-999A-416693571649}" presName="textRect" presStyleLbl="revTx" presStyleIdx="3" presStyleCnt="4">
        <dgm:presLayoutVars>
          <dgm:chMax val="1"/>
          <dgm:chPref val="1"/>
        </dgm:presLayoutVars>
      </dgm:prSet>
      <dgm:spPr/>
    </dgm:pt>
  </dgm:ptLst>
  <dgm:cxnLst>
    <dgm:cxn modelId="{151A0511-FAE6-4E56-A792-A3D7AD4F6176}" type="presOf" srcId="{605466F7-64BE-46A2-999A-416693571649}" destId="{A85573E8-056A-49A4-81C9-9CEC691921E4}" srcOrd="0" destOrd="0" presId="urn:microsoft.com/office/officeart/2018/2/layout/IconCircleList"/>
    <dgm:cxn modelId="{B4241C30-EE4E-4078-A8EA-2F412677BE02}" type="presOf" srcId="{AE9B0B0E-D54E-4E60-97CF-7CC19BA6439B}" destId="{1563A6DF-9C81-46F2-B8EE-E0C762684D2B}" srcOrd="0" destOrd="0" presId="urn:microsoft.com/office/officeart/2018/2/layout/IconCircleList"/>
    <dgm:cxn modelId="{DDC3D960-146D-4E61-894A-0D87035B6EFD}" srcId="{B2A934C5-6BB0-4D97-9525-2AF9F5C216A4}" destId="{605466F7-64BE-46A2-999A-416693571649}" srcOrd="3" destOrd="0" parTransId="{CC52342F-E860-467F-BD61-4105D51A4C26}" sibTransId="{B92EB028-F34A-498A-A088-FAEAE0D38572}"/>
    <dgm:cxn modelId="{3320664F-C25C-4E6D-8B0B-7FEB8C36A128}" type="presOf" srcId="{F3F3B1D7-6D83-4EDD-9B4F-B6DBF399ABCB}" destId="{10E27154-3C71-47A0-A4FB-40EC22D674BD}" srcOrd="0" destOrd="0" presId="urn:microsoft.com/office/officeart/2018/2/layout/IconCircleList"/>
    <dgm:cxn modelId="{30071754-01AB-49D0-AE0E-2F5652E5765D}" type="presOf" srcId="{B2A934C5-6BB0-4D97-9525-2AF9F5C216A4}" destId="{E9842F35-A755-4008-8D81-9D6C9EEDB4EC}" srcOrd="0" destOrd="0" presId="urn:microsoft.com/office/officeart/2018/2/layout/IconCircleList"/>
    <dgm:cxn modelId="{DDBB927F-B284-431E-AB75-9C151C862885}" srcId="{B2A934C5-6BB0-4D97-9525-2AF9F5C216A4}" destId="{BB854E5A-BF39-44CD-A8BA-3D4071A7D390}" srcOrd="2" destOrd="0" parTransId="{757134E5-BAD4-441A-82DD-E0CA2A83200E}" sibTransId="{AE9B0B0E-D54E-4E60-97CF-7CC19BA6439B}"/>
    <dgm:cxn modelId="{29E31280-92C0-4B59-A7AB-D750743BE6C4}" type="presOf" srcId="{4148894A-6EF9-4CA0-9674-4C434916FABE}" destId="{08CBF907-D522-43CC-951C-7DA6B043B3A5}" srcOrd="0" destOrd="0" presId="urn:microsoft.com/office/officeart/2018/2/layout/IconCircleList"/>
    <dgm:cxn modelId="{FD398597-46EC-436F-B688-754E75387699}" srcId="{B2A934C5-6BB0-4D97-9525-2AF9F5C216A4}" destId="{4148894A-6EF9-4CA0-9674-4C434916FABE}" srcOrd="0" destOrd="0" parTransId="{5E99A45B-BEA3-4601-BD88-F0742EC063B4}" sibTransId="{F294E5DC-6A61-4DB3-B7AB-C6C2F9A629EB}"/>
    <dgm:cxn modelId="{D89B26B5-E83B-400F-9F33-FFC7B53C4DAE}" type="presOf" srcId="{F294E5DC-6A61-4DB3-B7AB-C6C2F9A629EB}" destId="{BF3AE66D-1608-41A1-A46F-DABACF40734B}" srcOrd="0" destOrd="0" presId="urn:microsoft.com/office/officeart/2018/2/layout/IconCircleList"/>
    <dgm:cxn modelId="{5B50DBBA-2E32-4142-B921-8FC313D10C9F}" type="presOf" srcId="{52A03498-B9F1-4D15-9B39-3DD47B104DC6}" destId="{EB9B73F2-22E9-4D84-8F6F-074C7FA4A3A1}" srcOrd="0" destOrd="0" presId="urn:microsoft.com/office/officeart/2018/2/layout/IconCircleList"/>
    <dgm:cxn modelId="{F3D511CF-B21F-4739-B157-B3F5C19787A1}" srcId="{B2A934C5-6BB0-4D97-9525-2AF9F5C216A4}" destId="{52A03498-B9F1-4D15-9B39-3DD47B104DC6}" srcOrd="1" destOrd="0" parTransId="{5E3F26BB-C0BB-4587-9EC7-7EB1C8D67F3D}" sibTransId="{F3F3B1D7-6D83-4EDD-9B4F-B6DBF399ABCB}"/>
    <dgm:cxn modelId="{F17D18CF-CA08-4184-9F32-FF6BCD098FD6}" type="presOf" srcId="{BB854E5A-BF39-44CD-A8BA-3D4071A7D390}" destId="{029D312D-5615-4EAE-9E97-13284569C679}" srcOrd="0" destOrd="0" presId="urn:microsoft.com/office/officeart/2018/2/layout/IconCircleList"/>
    <dgm:cxn modelId="{8DFCCD34-91D4-4C54-A60A-4180739686C1}" type="presParOf" srcId="{E9842F35-A755-4008-8D81-9D6C9EEDB4EC}" destId="{C61BE227-3126-44FE-A241-1C55DD5D0B2E}" srcOrd="0" destOrd="0" presId="urn:microsoft.com/office/officeart/2018/2/layout/IconCircleList"/>
    <dgm:cxn modelId="{B732E8CE-67CC-4EB8-B18C-FCB428D52962}" type="presParOf" srcId="{C61BE227-3126-44FE-A241-1C55DD5D0B2E}" destId="{A1DD0923-61CC-4DA6-BA25-F4483E591BEC}" srcOrd="0" destOrd="0" presId="urn:microsoft.com/office/officeart/2018/2/layout/IconCircleList"/>
    <dgm:cxn modelId="{1D2E75E1-AA42-440C-85CD-371DC91CB22C}" type="presParOf" srcId="{A1DD0923-61CC-4DA6-BA25-F4483E591BEC}" destId="{670B3340-666D-47FA-9D66-8C45454CC632}" srcOrd="0" destOrd="0" presId="urn:microsoft.com/office/officeart/2018/2/layout/IconCircleList"/>
    <dgm:cxn modelId="{0806D16F-186C-462E-9C7F-B713CCCA0442}" type="presParOf" srcId="{A1DD0923-61CC-4DA6-BA25-F4483E591BEC}" destId="{528D86E3-2133-45B8-949A-717E18C12DC1}" srcOrd="1" destOrd="0" presId="urn:microsoft.com/office/officeart/2018/2/layout/IconCircleList"/>
    <dgm:cxn modelId="{BBB04393-0848-4E1B-8235-E411A60219E0}" type="presParOf" srcId="{A1DD0923-61CC-4DA6-BA25-F4483E591BEC}" destId="{4372AFBB-E37F-4F3C-A2D3-E56A3C80DD6C}" srcOrd="2" destOrd="0" presId="urn:microsoft.com/office/officeart/2018/2/layout/IconCircleList"/>
    <dgm:cxn modelId="{2C3D32D1-AE95-434F-A056-CCFFE522E620}" type="presParOf" srcId="{A1DD0923-61CC-4DA6-BA25-F4483E591BEC}" destId="{08CBF907-D522-43CC-951C-7DA6B043B3A5}" srcOrd="3" destOrd="0" presId="urn:microsoft.com/office/officeart/2018/2/layout/IconCircleList"/>
    <dgm:cxn modelId="{6FD62E2F-CBC7-4F93-88BF-C31939F5EB7A}" type="presParOf" srcId="{C61BE227-3126-44FE-A241-1C55DD5D0B2E}" destId="{BF3AE66D-1608-41A1-A46F-DABACF40734B}" srcOrd="1" destOrd="0" presId="urn:microsoft.com/office/officeart/2018/2/layout/IconCircleList"/>
    <dgm:cxn modelId="{65D9408C-F186-4BDF-84E6-0BAED64A4A7E}" type="presParOf" srcId="{C61BE227-3126-44FE-A241-1C55DD5D0B2E}" destId="{53F64269-AF07-43EE-BF93-B9758B1546A2}" srcOrd="2" destOrd="0" presId="urn:microsoft.com/office/officeart/2018/2/layout/IconCircleList"/>
    <dgm:cxn modelId="{478F13D7-B335-43FD-A1AA-948D89313025}" type="presParOf" srcId="{53F64269-AF07-43EE-BF93-B9758B1546A2}" destId="{C3509C5A-220B-44F4-B748-1E9B37054E97}" srcOrd="0" destOrd="0" presId="urn:microsoft.com/office/officeart/2018/2/layout/IconCircleList"/>
    <dgm:cxn modelId="{BF3C4E26-6C29-4548-901E-77310684EAAD}" type="presParOf" srcId="{53F64269-AF07-43EE-BF93-B9758B1546A2}" destId="{D0F75168-3B8D-4896-95A8-6DCEE24D8B11}" srcOrd="1" destOrd="0" presId="urn:microsoft.com/office/officeart/2018/2/layout/IconCircleList"/>
    <dgm:cxn modelId="{510956CF-C327-47D7-B9A8-2DCB9F24CFF8}" type="presParOf" srcId="{53F64269-AF07-43EE-BF93-B9758B1546A2}" destId="{F7920687-D5DD-4876-9E76-EBAAD8C40A0B}" srcOrd="2" destOrd="0" presId="urn:microsoft.com/office/officeart/2018/2/layout/IconCircleList"/>
    <dgm:cxn modelId="{1715185C-861A-4501-8D1C-FA95B878A1AE}" type="presParOf" srcId="{53F64269-AF07-43EE-BF93-B9758B1546A2}" destId="{EB9B73F2-22E9-4D84-8F6F-074C7FA4A3A1}" srcOrd="3" destOrd="0" presId="urn:microsoft.com/office/officeart/2018/2/layout/IconCircleList"/>
    <dgm:cxn modelId="{A331C263-5C01-4C3E-8F2F-CA9C03BCE7C5}" type="presParOf" srcId="{C61BE227-3126-44FE-A241-1C55DD5D0B2E}" destId="{10E27154-3C71-47A0-A4FB-40EC22D674BD}" srcOrd="3" destOrd="0" presId="urn:microsoft.com/office/officeart/2018/2/layout/IconCircleList"/>
    <dgm:cxn modelId="{65DE184F-1B95-43C5-81AB-FD933CBF0BB2}" type="presParOf" srcId="{C61BE227-3126-44FE-A241-1C55DD5D0B2E}" destId="{F1E11CCF-7920-498D-997A-847EFE6C0BEE}" srcOrd="4" destOrd="0" presId="urn:microsoft.com/office/officeart/2018/2/layout/IconCircleList"/>
    <dgm:cxn modelId="{D5D3AE8F-4B8B-4FBB-AEBA-7D915F1B335F}" type="presParOf" srcId="{F1E11CCF-7920-498D-997A-847EFE6C0BEE}" destId="{0C632253-DE52-47DF-856F-4E4BA77BE01D}" srcOrd="0" destOrd="0" presId="urn:microsoft.com/office/officeart/2018/2/layout/IconCircleList"/>
    <dgm:cxn modelId="{5D63F9EC-2D4C-470A-9CD5-86791BFDA5C4}" type="presParOf" srcId="{F1E11CCF-7920-498D-997A-847EFE6C0BEE}" destId="{217F8B9D-2D4E-419D-9C7E-26CFEB79CAA1}" srcOrd="1" destOrd="0" presId="urn:microsoft.com/office/officeart/2018/2/layout/IconCircleList"/>
    <dgm:cxn modelId="{F716863A-870E-4F7B-AE7F-EA504FC59D04}" type="presParOf" srcId="{F1E11CCF-7920-498D-997A-847EFE6C0BEE}" destId="{8B91A143-0623-456A-BDC1-F18F9A8F9819}" srcOrd="2" destOrd="0" presId="urn:microsoft.com/office/officeart/2018/2/layout/IconCircleList"/>
    <dgm:cxn modelId="{B3FAC65B-0F90-4035-A27E-DFF351CEEFAC}" type="presParOf" srcId="{F1E11CCF-7920-498D-997A-847EFE6C0BEE}" destId="{029D312D-5615-4EAE-9E97-13284569C679}" srcOrd="3" destOrd="0" presId="urn:microsoft.com/office/officeart/2018/2/layout/IconCircleList"/>
    <dgm:cxn modelId="{921227A7-EFCA-4A7A-83D3-6680D20A8B48}" type="presParOf" srcId="{C61BE227-3126-44FE-A241-1C55DD5D0B2E}" destId="{1563A6DF-9C81-46F2-B8EE-E0C762684D2B}" srcOrd="5" destOrd="0" presId="urn:microsoft.com/office/officeart/2018/2/layout/IconCircleList"/>
    <dgm:cxn modelId="{F54C652F-CF9B-456C-9E0A-5D15F674382A}" type="presParOf" srcId="{C61BE227-3126-44FE-A241-1C55DD5D0B2E}" destId="{D52F069D-A68F-4294-A0F3-F297C3D85449}" srcOrd="6" destOrd="0" presId="urn:microsoft.com/office/officeart/2018/2/layout/IconCircleList"/>
    <dgm:cxn modelId="{6348B82E-4FB5-4EA1-A6DC-EBD5B0EF1F53}" type="presParOf" srcId="{D52F069D-A68F-4294-A0F3-F297C3D85449}" destId="{2015A42C-B9C5-478E-8388-6889B14092F7}" srcOrd="0" destOrd="0" presId="urn:microsoft.com/office/officeart/2018/2/layout/IconCircleList"/>
    <dgm:cxn modelId="{CCF7BA41-5DF3-493B-BF07-D68A5C20B5C0}" type="presParOf" srcId="{D52F069D-A68F-4294-A0F3-F297C3D85449}" destId="{46ED7D08-13E2-423C-B6DD-EBBC9E5F2DD2}" srcOrd="1" destOrd="0" presId="urn:microsoft.com/office/officeart/2018/2/layout/IconCircleList"/>
    <dgm:cxn modelId="{434CEC8D-F404-4BFB-ADFC-03935B2CE589}" type="presParOf" srcId="{D52F069D-A68F-4294-A0F3-F297C3D85449}" destId="{AD4AF437-5513-46AF-848D-9D537BB4C8B7}" srcOrd="2" destOrd="0" presId="urn:microsoft.com/office/officeart/2018/2/layout/IconCircleList"/>
    <dgm:cxn modelId="{4222FB6D-FB23-484F-B356-879DFF4F7868}" type="presParOf" srcId="{D52F069D-A68F-4294-A0F3-F297C3D85449}" destId="{A85573E8-056A-49A4-81C9-9CEC691921E4}"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2A934C5-6BB0-4D97-9525-2AF9F5C216A4}" type="doc">
      <dgm:prSet loTypeId="urn:microsoft.com/office/officeart/2018/2/layout/IconCircleList" loCatId="icon" qsTypeId="urn:microsoft.com/office/officeart/2005/8/quickstyle/simple1" qsCatId="simple" csTypeId="urn:microsoft.com/office/officeart/2018/5/colors/Iconchunking_neutralicon_accent1_2" csCatId="accent1" phldr="1"/>
      <dgm:spPr/>
      <dgm:t>
        <a:bodyPr/>
        <a:lstStyle/>
        <a:p>
          <a:endParaRPr lang="en-US"/>
        </a:p>
      </dgm:t>
    </dgm:pt>
    <dgm:pt modelId="{CAE7C332-CD67-43F3-92F4-6A63403B7261}">
      <dgm:prSet/>
      <dgm:spPr/>
      <dgm:t>
        <a:bodyPr/>
        <a:lstStyle/>
        <a:p>
          <a:pPr>
            <a:lnSpc>
              <a:spcPct val="100000"/>
            </a:lnSpc>
          </a:pPr>
          <a:r>
            <a:rPr lang="en-US"/>
            <a:t>Video Demo:</a:t>
          </a:r>
        </a:p>
      </dgm:t>
    </dgm:pt>
    <dgm:pt modelId="{18C9DF84-BC1B-4CBF-92C0-8C91E9517D38}" type="parTrans" cxnId="{9DC6D0A8-AD23-473A-B625-1229447AAFAF}">
      <dgm:prSet/>
      <dgm:spPr/>
      <dgm:t>
        <a:bodyPr/>
        <a:lstStyle/>
        <a:p>
          <a:endParaRPr lang="en-US"/>
        </a:p>
      </dgm:t>
    </dgm:pt>
    <dgm:pt modelId="{C62FEB40-AD6B-4E6F-8D43-D2D10926DD85}" type="sibTrans" cxnId="{9DC6D0A8-AD23-473A-B625-1229447AAFAF}">
      <dgm:prSet/>
      <dgm:spPr/>
      <dgm:t>
        <a:bodyPr/>
        <a:lstStyle/>
        <a:p>
          <a:endParaRPr lang="en-US"/>
        </a:p>
      </dgm:t>
    </dgm:pt>
    <dgm:pt modelId="{E9842F35-A755-4008-8D81-9D6C9EEDB4EC}" type="pres">
      <dgm:prSet presAssocID="{B2A934C5-6BB0-4D97-9525-2AF9F5C216A4}" presName="root" presStyleCnt="0">
        <dgm:presLayoutVars>
          <dgm:dir/>
          <dgm:resizeHandles val="exact"/>
        </dgm:presLayoutVars>
      </dgm:prSet>
      <dgm:spPr/>
    </dgm:pt>
    <dgm:pt modelId="{C61BE227-3126-44FE-A241-1C55DD5D0B2E}" type="pres">
      <dgm:prSet presAssocID="{B2A934C5-6BB0-4D97-9525-2AF9F5C216A4}" presName="container" presStyleCnt="0">
        <dgm:presLayoutVars>
          <dgm:dir/>
          <dgm:resizeHandles val="exact"/>
        </dgm:presLayoutVars>
      </dgm:prSet>
      <dgm:spPr/>
    </dgm:pt>
    <dgm:pt modelId="{F237F75D-ECF6-4979-877E-1F0D6EF5241C}" type="pres">
      <dgm:prSet presAssocID="{CAE7C332-CD67-43F3-92F4-6A63403B7261}" presName="compNode" presStyleCnt="0"/>
      <dgm:spPr/>
    </dgm:pt>
    <dgm:pt modelId="{32B65525-98AE-4ECA-917F-33D650866BFC}" type="pres">
      <dgm:prSet presAssocID="{CAE7C332-CD67-43F3-92F4-6A63403B7261}" presName="iconBgRect" presStyleLbl="bgShp" presStyleIdx="0" presStyleCnt="1"/>
      <dgm:spPr>
        <a:ln>
          <a:solidFill>
            <a:schemeClr val="tx1">
              <a:lumMod val="95000"/>
              <a:lumOff val="5000"/>
            </a:schemeClr>
          </a:solidFill>
        </a:ln>
      </dgm:spPr>
    </dgm:pt>
    <dgm:pt modelId="{6EAC1FA7-E689-4365-8E63-D04434712DF0}" type="pres">
      <dgm:prSet presAssocID="{CAE7C332-CD67-43F3-92F4-6A63403B7261}" presName="iconRect" presStyleLbl="node1" presStyleIdx="0" presStyleCnt="1"/>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Video camera with solid fill"/>
        </a:ext>
      </dgm:extLst>
    </dgm:pt>
    <dgm:pt modelId="{61B89F26-1EA2-436E-AE8F-F4BCE16D8DD2}" type="pres">
      <dgm:prSet presAssocID="{CAE7C332-CD67-43F3-92F4-6A63403B7261}" presName="spaceRect" presStyleCnt="0"/>
      <dgm:spPr/>
    </dgm:pt>
    <dgm:pt modelId="{E3BF79F1-229F-4BD2-965B-A8C2D97D42D0}" type="pres">
      <dgm:prSet presAssocID="{CAE7C332-CD67-43F3-92F4-6A63403B7261}" presName="textRect" presStyleLbl="revTx" presStyleIdx="0" presStyleCnt="1">
        <dgm:presLayoutVars>
          <dgm:chMax val="1"/>
          <dgm:chPref val="1"/>
        </dgm:presLayoutVars>
      </dgm:prSet>
      <dgm:spPr/>
    </dgm:pt>
  </dgm:ptLst>
  <dgm:cxnLst>
    <dgm:cxn modelId="{30071754-01AB-49D0-AE0E-2F5652E5765D}" type="presOf" srcId="{B2A934C5-6BB0-4D97-9525-2AF9F5C216A4}" destId="{E9842F35-A755-4008-8D81-9D6C9EEDB4EC}" srcOrd="0" destOrd="0" presId="urn:microsoft.com/office/officeart/2018/2/layout/IconCircleList"/>
    <dgm:cxn modelId="{9DC6D0A8-AD23-473A-B625-1229447AAFAF}" srcId="{B2A934C5-6BB0-4D97-9525-2AF9F5C216A4}" destId="{CAE7C332-CD67-43F3-92F4-6A63403B7261}" srcOrd="0" destOrd="0" parTransId="{18C9DF84-BC1B-4CBF-92C0-8C91E9517D38}" sibTransId="{C62FEB40-AD6B-4E6F-8D43-D2D10926DD85}"/>
    <dgm:cxn modelId="{BCB01FB5-9190-40BF-AAA8-9A9B6D98C155}" type="presOf" srcId="{CAE7C332-CD67-43F3-92F4-6A63403B7261}" destId="{E3BF79F1-229F-4BD2-965B-A8C2D97D42D0}" srcOrd="0" destOrd="0" presId="urn:microsoft.com/office/officeart/2018/2/layout/IconCircleList"/>
    <dgm:cxn modelId="{8DFCCD34-91D4-4C54-A60A-4180739686C1}" type="presParOf" srcId="{E9842F35-A755-4008-8D81-9D6C9EEDB4EC}" destId="{C61BE227-3126-44FE-A241-1C55DD5D0B2E}" srcOrd="0" destOrd="0" presId="urn:microsoft.com/office/officeart/2018/2/layout/IconCircleList"/>
    <dgm:cxn modelId="{E321691E-5952-496F-B277-5C58D7E93757}" type="presParOf" srcId="{C61BE227-3126-44FE-A241-1C55DD5D0B2E}" destId="{F237F75D-ECF6-4979-877E-1F0D6EF5241C}" srcOrd="0" destOrd="0" presId="urn:microsoft.com/office/officeart/2018/2/layout/IconCircleList"/>
    <dgm:cxn modelId="{FD4061BF-8D99-4AF1-A206-87FB66407F95}" type="presParOf" srcId="{F237F75D-ECF6-4979-877E-1F0D6EF5241C}" destId="{32B65525-98AE-4ECA-917F-33D650866BFC}" srcOrd="0" destOrd="0" presId="urn:microsoft.com/office/officeart/2018/2/layout/IconCircleList"/>
    <dgm:cxn modelId="{566FF69A-37EA-45DD-BCDD-DAA21A56DDA2}" type="presParOf" srcId="{F237F75D-ECF6-4979-877E-1F0D6EF5241C}" destId="{6EAC1FA7-E689-4365-8E63-D04434712DF0}" srcOrd="1" destOrd="0" presId="urn:microsoft.com/office/officeart/2018/2/layout/IconCircleList"/>
    <dgm:cxn modelId="{4EEF84A9-7737-4FC2-BF73-903F61136E09}" type="presParOf" srcId="{F237F75D-ECF6-4979-877E-1F0D6EF5241C}" destId="{61B89F26-1EA2-436E-AE8F-F4BCE16D8DD2}" srcOrd="2" destOrd="0" presId="urn:microsoft.com/office/officeart/2018/2/layout/IconCircleList"/>
    <dgm:cxn modelId="{9E551007-8F2C-49BC-9BFE-1485E4FEF1E8}" type="presParOf" srcId="{F237F75D-ECF6-4979-877E-1F0D6EF5241C}" destId="{E3BF79F1-229F-4BD2-965B-A8C2D97D42D0}"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4931BFB-A6BE-4A5E-959D-E54C30C41ACD}"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4B8F4F9-B0A3-4236-A854-3F5D0D6BAD94}">
      <dgm:prSet/>
      <dgm:spPr/>
      <dgm:t>
        <a:bodyPr/>
        <a:lstStyle/>
        <a:p>
          <a:pPr>
            <a:lnSpc>
              <a:spcPct val="100000"/>
            </a:lnSpc>
          </a:pPr>
          <a:r>
            <a:rPr lang="en-US" dirty="0"/>
            <a:t>Request send to Blynk cloud immediately through HTTP. </a:t>
          </a:r>
        </a:p>
      </dgm:t>
    </dgm:pt>
    <dgm:pt modelId="{CC06D7F5-3B51-40F4-A744-FEE064278981}" type="parTrans" cxnId="{23362272-2707-4BB6-8888-983B3F4446F0}">
      <dgm:prSet/>
      <dgm:spPr/>
      <dgm:t>
        <a:bodyPr/>
        <a:lstStyle/>
        <a:p>
          <a:endParaRPr lang="en-US"/>
        </a:p>
      </dgm:t>
    </dgm:pt>
    <dgm:pt modelId="{2BAAD0E5-8F1D-4345-83A2-233242E13B24}" type="sibTrans" cxnId="{23362272-2707-4BB6-8888-983B3F4446F0}">
      <dgm:prSet/>
      <dgm:spPr/>
      <dgm:t>
        <a:bodyPr/>
        <a:lstStyle/>
        <a:p>
          <a:endParaRPr lang="en-US"/>
        </a:p>
      </dgm:t>
    </dgm:pt>
    <dgm:pt modelId="{A41817D7-C34C-4912-97D1-FE0F810E4420}">
      <dgm:prSet/>
      <dgm:spPr/>
      <dgm:t>
        <a:bodyPr/>
        <a:lstStyle/>
        <a:p>
          <a:pPr>
            <a:lnSpc>
              <a:spcPct val="100000"/>
            </a:lnSpc>
          </a:pPr>
          <a:r>
            <a:rPr lang="en-US" dirty="0"/>
            <a:t>Once pressed user is notified on screen that request was delivered. </a:t>
          </a:r>
        </a:p>
      </dgm:t>
    </dgm:pt>
    <dgm:pt modelId="{4578B816-CB83-46B2-837A-8BC1639BE573}" type="parTrans" cxnId="{342E27C6-33C0-422C-95FE-106718EE8994}">
      <dgm:prSet/>
      <dgm:spPr/>
      <dgm:t>
        <a:bodyPr/>
        <a:lstStyle/>
        <a:p>
          <a:endParaRPr lang="en-US"/>
        </a:p>
      </dgm:t>
    </dgm:pt>
    <dgm:pt modelId="{C7FC1B9B-505E-46CD-A476-C6119BBA09EC}" type="sibTrans" cxnId="{342E27C6-33C0-422C-95FE-106718EE8994}">
      <dgm:prSet/>
      <dgm:spPr/>
      <dgm:t>
        <a:bodyPr/>
        <a:lstStyle/>
        <a:p>
          <a:endParaRPr lang="en-US"/>
        </a:p>
      </dgm:t>
    </dgm:pt>
    <dgm:pt modelId="{43AB3345-14D1-47F7-8C14-8028F96B5A41}">
      <dgm:prSet/>
      <dgm:spPr/>
      <dgm:t>
        <a:bodyPr/>
        <a:lstStyle/>
        <a:p>
          <a:pPr>
            <a:lnSpc>
              <a:spcPct val="100000"/>
            </a:lnSpc>
          </a:pPr>
          <a:r>
            <a:rPr lang="en-US" dirty="0"/>
            <a:t>Video Demo: </a:t>
          </a:r>
        </a:p>
      </dgm:t>
    </dgm:pt>
    <dgm:pt modelId="{3A8D94D6-09BC-4168-AF2D-968FD8D4AEA3}" type="parTrans" cxnId="{96FD0E13-A3C8-4068-8058-1CBD18B40A60}">
      <dgm:prSet/>
      <dgm:spPr/>
      <dgm:t>
        <a:bodyPr/>
        <a:lstStyle/>
        <a:p>
          <a:endParaRPr lang="en-US"/>
        </a:p>
      </dgm:t>
    </dgm:pt>
    <dgm:pt modelId="{BBBCFD73-7A65-4C20-936B-46F37ECDA860}" type="sibTrans" cxnId="{96FD0E13-A3C8-4068-8058-1CBD18B40A60}">
      <dgm:prSet/>
      <dgm:spPr/>
      <dgm:t>
        <a:bodyPr/>
        <a:lstStyle/>
        <a:p>
          <a:endParaRPr lang="en-US"/>
        </a:p>
      </dgm:t>
    </dgm:pt>
    <dgm:pt modelId="{B63883E4-66B9-424F-B466-0405F2D26ED3}" type="pres">
      <dgm:prSet presAssocID="{74931BFB-A6BE-4A5E-959D-E54C30C41ACD}" presName="root" presStyleCnt="0">
        <dgm:presLayoutVars>
          <dgm:dir/>
          <dgm:resizeHandles val="exact"/>
        </dgm:presLayoutVars>
      </dgm:prSet>
      <dgm:spPr/>
    </dgm:pt>
    <dgm:pt modelId="{94DBB63F-CCF0-4F8B-B406-1365B5ADBE1F}" type="pres">
      <dgm:prSet presAssocID="{94B8F4F9-B0A3-4236-A854-3F5D0D6BAD94}" presName="compNode" presStyleCnt="0"/>
      <dgm:spPr/>
    </dgm:pt>
    <dgm:pt modelId="{3C3B8A64-F944-4DD8-B1E6-86FF5F2B702A}" type="pres">
      <dgm:prSet presAssocID="{94B8F4F9-B0A3-4236-A854-3F5D0D6BAD94}" presName="bgRect" presStyleLbl="bgShp" presStyleIdx="0" presStyleCnt="3"/>
      <dgm:spPr>
        <a:solidFill>
          <a:schemeClr val="accent2">
            <a:lumMod val="40000"/>
            <a:lumOff val="60000"/>
          </a:schemeClr>
        </a:solidFill>
      </dgm:spPr>
    </dgm:pt>
    <dgm:pt modelId="{1038E234-1E32-4365-9748-CE1E98DF366D}" type="pres">
      <dgm:prSet presAssocID="{94B8F4F9-B0A3-4236-A854-3F5D0D6BAD9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loud Computing"/>
        </a:ext>
      </dgm:extLst>
    </dgm:pt>
    <dgm:pt modelId="{9D814DAF-9599-46B0-90D9-67406568145A}" type="pres">
      <dgm:prSet presAssocID="{94B8F4F9-B0A3-4236-A854-3F5D0D6BAD94}" presName="spaceRect" presStyleCnt="0"/>
      <dgm:spPr/>
    </dgm:pt>
    <dgm:pt modelId="{A6BF10A0-53A2-49D0-AD24-1D59F8E1F32D}" type="pres">
      <dgm:prSet presAssocID="{94B8F4F9-B0A3-4236-A854-3F5D0D6BAD94}" presName="parTx" presStyleLbl="revTx" presStyleIdx="0" presStyleCnt="3">
        <dgm:presLayoutVars>
          <dgm:chMax val="0"/>
          <dgm:chPref val="0"/>
        </dgm:presLayoutVars>
      </dgm:prSet>
      <dgm:spPr/>
    </dgm:pt>
    <dgm:pt modelId="{49CF11AC-4D44-498E-8408-2E738958B3C4}" type="pres">
      <dgm:prSet presAssocID="{2BAAD0E5-8F1D-4345-83A2-233242E13B24}" presName="sibTrans" presStyleCnt="0"/>
      <dgm:spPr/>
    </dgm:pt>
    <dgm:pt modelId="{720243D9-677F-4533-B1F9-6DB0D4982DD3}" type="pres">
      <dgm:prSet presAssocID="{A41817D7-C34C-4912-97D1-FE0F810E4420}" presName="compNode" presStyleCnt="0"/>
      <dgm:spPr/>
    </dgm:pt>
    <dgm:pt modelId="{B313842B-3B7A-40F6-BC65-6DC36D3EBEAC}" type="pres">
      <dgm:prSet presAssocID="{A41817D7-C34C-4912-97D1-FE0F810E4420}" presName="bgRect" presStyleLbl="bgShp" presStyleIdx="1" presStyleCnt="3"/>
      <dgm:spPr>
        <a:solidFill>
          <a:schemeClr val="accent2">
            <a:lumMod val="40000"/>
            <a:lumOff val="60000"/>
          </a:schemeClr>
        </a:solidFill>
      </dgm:spPr>
    </dgm:pt>
    <dgm:pt modelId="{99026D3F-857D-42DC-B54F-C8E5CD0259A0}" type="pres">
      <dgm:prSet presAssocID="{A41817D7-C34C-4912-97D1-FE0F810E4420}"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Check In with solid fill"/>
        </a:ext>
      </dgm:extLst>
    </dgm:pt>
    <dgm:pt modelId="{A93E13AF-A004-462C-BE99-6DC3D215792E}" type="pres">
      <dgm:prSet presAssocID="{A41817D7-C34C-4912-97D1-FE0F810E4420}" presName="spaceRect" presStyleCnt="0"/>
      <dgm:spPr/>
    </dgm:pt>
    <dgm:pt modelId="{CD1BC00A-266B-436F-91C8-93A578462363}" type="pres">
      <dgm:prSet presAssocID="{A41817D7-C34C-4912-97D1-FE0F810E4420}" presName="parTx" presStyleLbl="revTx" presStyleIdx="1" presStyleCnt="3">
        <dgm:presLayoutVars>
          <dgm:chMax val="0"/>
          <dgm:chPref val="0"/>
        </dgm:presLayoutVars>
      </dgm:prSet>
      <dgm:spPr/>
    </dgm:pt>
    <dgm:pt modelId="{514B6B37-6826-4ADE-9E95-B19FA28AAB0F}" type="pres">
      <dgm:prSet presAssocID="{C7FC1B9B-505E-46CD-A476-C6119BBA09EC}" presName="sibTrans" presStyleCnt="0"/>
      <dgm:spPr/>
    </dgm:pt>
    <dgm:pt modelId="{C5120660-BFD2-41BF-B5BE-B0979C6D2B1E}" type="pres">
      <dgm:prSet presAssocID="{43AB3345-14D1-47F7-8C14-8028F96B5A41}" presName="compNode" presStyleCnt="0"/>
      <dgm:spPr/>
    </dgm:pt>
    <dgm:pt modelId="{B9E19906-7E9B-4087-8369-B0E265C0C5AC}" type="pres">
      <dgm:prSet presAssocID="{43AB3345-14D1-47F7-8C14-8028F96B5A41}" presName="bgRect" presStyleLbl="bgShp" presStyleIdx="2" presStyleCnt="3"/>
      <dgm:spPr>
        <a:solidFill>
          <a:schemeClr val="accent2">
            <a:lumMod val="40000"/>
            <a:lumOff val="60000"/>
          </a:schemeClr>
        </a:solidFill>
      </dgm:spPr>
    </dgm:pt>
    <dgm:pt modelId="{B620CAE4-8A68-4E12-9266-4BF316C616F5}" type="pres">
      <dgm:prSet presAssocID="{43AB3345-14D1-47F7-8C14-8028F96B5A4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Video camera"/>
        </a:ext>
      </dgm:extLst>
    </dgm:pt>
    <dgm:pt modelId="{64BC00F1-C675-4348-9571-D06964D25CD3}" type="pres">
      <dgm:prSet presAssocID="{43AB3345-14D1-47F7-8C14-8028F96B5A41}" presName="spaceRect" presStyleCnt="0"/>
      <dgm:spPr/>
    </dgm:pt>
    <dgm:pt modelId="{EAD70BB4-64AF-4CD3-9282-02AFC242C549}" type="pres">
      <dgm:prSet presAssocID="{43AB3345-14D1-47F7-8C14-8028F96B5A41}" presName="parTx" presStyleLbl="revTx" presStyleIdx="2" presStyleCnt="3">
        <dgm:presLayoutVars>
          <dgm:chMax val="0"/>
          <dgm:chPref val="0"/>
        </dgm:presLayoutVars>
      </dgm:prSet>
      <dgm:spPr/>
    </dgm:pt>
  </dgm:ptLst>
  <dgm:cxnLst>
    <dgm:cxn modelId="{96FD0E13-A3C8-4068-8058-1CBD18B40A60}" srcId="{74931BFB-A6BE-4A5E-959D-E54C30C41ACD}" destId="{43AB3345-14D1-47F7-8C14-8028F96B5A41}" srcOrd="2" destOrd="0" parTransId="{3A8D94D6-09BC-4168-AF2D-968FD8D4AEA3}" sibTransId="{BBBCFD73-7A65-4C20-936B-46F37ECDA860}"/>
    <dgm:cxn modelId="{2229E432-87A4-4509-A419-3D6820B46E92}" type="presOf" srcId="{A41817D7-C34C-4912-97D1-FE0F810E4420}" destId="{CD1BC00A-266B-436F-91C8-93A578462363}" srcOrd="0" destOrd="0" presId="urn:microsoft.com/office/officeart/2018/2/layout/IconVerticalSolidList"/>
    <dgm:cxn modelId="{8BCC4F36-5E9B-42DB-89BF-0F6659725B6A}" type="presOf" srcId="{94B8F4F9-B0A3-4236-A854-3F5D0D6BAD94}" destId="{A6BF10A0-53A2-49D0-AD24-1D59F8E1F32D}" srcOrd="0" destOrd="0" presId="urn:microsoft.com/office/officeart/2018/2/layout/IconVerticalSolidList"/>
    <dgm:cxn modelId="{23362272-2707-4BB6-8888-983B3F4446F0}" srcId="{74931BFB-A6BE-4A5E-959D-E54C30C41ACD}" destId="{94B8F4F9-B0A3-4236-A854-3F5D0D6BAD94}" srcOrd="0" destOrd="0" parTransId="{CC06D7F5-3B51-40F4-A744-FEE064278981}" sibTransId="{2BAAD0E5-8F1D-4345-83A2-233242E13B24}"/>
    <dgm:cxn modelId="{342E27C6-33C0-422C-95FE-106718EE8994}" srcId="{74931BFB-A6BE-4A5E-959D-E54C30C41ACD}" destId="{A41817D7-C34C-4912-97D1-FE0F810E4420}" srcOrd="1" destOrd="0" parTransId="{4578B816-CB83-46B2-837A-8BC1639BE573}" sibTransId="{C7FC1B9B-505E-46CD-A476-C6119BBA09EC}"/>
    <dgm:cxn modelId="{462AD2D9-A3EC-4194-AF61-2FFFDE35F508}" type="presOf" srcId="{74931BFB-A6BE-4A5E-959D-E54C30C41ACD}" destId="{B63883E4-66B9-424F-B466-0405F2D26ED3}" srcOrd="0" destOrd="0" presId="urn:microsoft.com/office/officeart/2018/2/layout/IconVerticalSolidList"/>
    <dgm:cxn modelId="{6BB3C6EA-3C5F-4FC1-B32D-6AB589FE5F1C}" type="presOf" srcId="{43AB3345-14D1-47F7-8C14-8028F96B5A41}" destId="{EAD70BB4-64AF-4CD3-9282-02AFC242C549}" srcOrd="0" destOrd="0" presId="urn:microsoft.com/office/officeart/2018/2/layout/IconVerticalSolidList"/>
    <dgm:cxn modelId="{7D72794E-E7CE-4F9C-ADCA-544793F50D8C}" type="presParOf" srcId="{B63883E4-66B9-424F-B466-0405F2D26ED3}" destId="{94DBB63F-CCF0-4F8B-B406-1365B5ADBE1F}" srcOrd="0" destOrd="0" presId="urn:microsoft.com/office/officeart/2018/2/layout/IconVerticalSolidList"/>
    <dgm:cxn modelId="{67A128C2-4845-49DF-83A6-3437611741BB}" type="presParOf" srcId="{94DBB63F-CCF0-4F8B-B406-1365B5ADBE1F}" destId="{3C3B8A64-F944-4DD8-B1E6-86FF5F2B702A}" srcOrd="0" destOrd="0" presId="urn:microsoft.com/office/officeart/2018/2/layout/IconVerticalSolidList"/>
    <dgm:cxn modelId="{BEDCCD29-FFC7-4D29-B556-49F68991DDC7}" type="presParOf" srcId="{94DBB63F-CCF0-4F8B-B406-1365B5ADBE1F}" destId="{1038E234-1E32-4365-9748-CE1E98DF366D}" srcOrd="1" destOrd="0" presId="urn:microsoft.com/office/officeart/2018/2/layout/IconVerticalSolidList"/>
    <dgm:cxn modelId="{2FB55621-2CA6-491C-ABBB-3FB15D639E15}" type="presParOf" srcId="{94DBB63F-CCF0-4F8B-B406-1365B5ADBE1F}" destId="{9D814DAF-9599-46B0-90D9-67406568145A}" srcOrd="2" destOrd="0" presId="urn:microsoft.com/office/officeart/2018/2/layout/IconVerticalSolidList"/>
    <dgm:cxn modelId="{734A5F0B-1C60-464A-BF52-699728EB067A}" type="presParOf" srcId="{94DBB63F-CCF0-4F8B-B406-1365B5ADBE1F}" destId="{A6BF10A0-53A2-49D0-AD24-1D59F8E1F32D}" srcOrd="3" destOrd="0" presId="urn:microsoft.com/office/officeart/2018/2/layout/IconVerticalSolidList"/>
    <dgm:cxn modelId="{6531FC3A-A452-40CA-A1AF-44698FD61A5D}" type="presParOf" srcId="{B63883E4-66B9-424F-B466-0405F2D26ED3}" destId="{49CF11AC-4D44-498E-8408-2E738958B3C4}" srcOrd="1" destOrd="0" presId="urn:microsoft.com/office/officeart/2018/2/layout/IconVerticalSolidList"/>
    <dgm:cxn modelId="{A982D19D-BBDA-49EE-923E-7D691974CE0B}" type="presParOf" srcId="{B63883E4-66B9-424F-B466-0405F2D26ED3}" destId="{720243D9-677F-4533-B1F9-6DB0D4982DD3}" srcOrd="2" destOrd="0" presId="urn:microsoft.com/office/officeart/2018/2/layout/IconVerticalSolidList"/>
    <dgm:cxn modelId="{38819DAD-FB9D-4961-99C4-403BE562AEDF}" type="presParOf" srcId="{720243D9-677F-4533-B1F9-6DB0D4982DD3}" destId="{B313842B-3B7A-40F6-BC65-6DC36D3EBEAC}" srcOrd="0" destOrd="0" presId="urn:microsoft.com/office/officeart/2018/2/layout/IconVerticalSolidList"/>
    <dgm:cxn modelId="{F5465ADC-5646-4DAF-AA9A-0E18E1EC16F5}" type="presParOf" srcId="{720243D9-677F-4533-B1F9-6DB0D4982DD3}" destId="{99026D3F-857D-42DC-B54F-C8E5CD0259A0}" srcOrd="1" destOrd="0" presId="urn:microsoft.com/office/officeart/2018/2/layout/IconVerticalSolidList"/>
    <dgm:cxn modelId="{7811377C-78D9-421A-9535-D09510571ECE}" type="presParOf" srcId="{720243D9-677F-4533-B1F9-6DB0D4982DD3}" destId="{A93E13AF-A004-462C-BE99-6DC3D215792E}" srcOrd="2" destOrd="0" presId="urn:microsoft.com/office/officeart/2018/2/layout/IconVerticalSolidList"/>
    <dgm:cxn modelId="{ACC742DD-C836-4A50-8776-9221DDF59E94}" type="presParOf" srcId="{720243D9-677F-4533-B1F9-6DB0D4982DD3}" destId="{CD1BC00A-266B-436F-91C8-93A578462363}" srcOrd="3" destOrd="0" presId="urn:microsoft.com/office/officeart/2018/2/layout/IconVerticalSolidList"/>
    <dgm:cxn modelId="{826BFE00-FDE5-4917-AC58-64C2F30F15C4}" type="presParOf" srcId="{B63883E4-66B9-424F-B466-0405F2D26ED3}" destId="{514B6B37-6826-4ADE-9E95-B19FA28AAB0F}" srcOrd="3" destOrd="0" presId="urn:microsoft.com/office/officeart/2018/2/layout/IconVerticalSolidList"/>
    <dgm:cxn modelId="{58FEDF30-0777-42EA-973C-E7D9FE6F3C5E}" type="presParOf" srcId="{B63883E4-66B9-424F-B466-0405F2D26ED3}" destId="{C5120660-BFD2-41BF-B5BE-B0979C6D2B1E}" srcOrd="4" destOrd="0" presId="urn:microsoft.com/office/officeart/2018/2/layout/IconVerticalSolidList"/>
    <dgm:cxn modelId="{D5F33FF2-5359-4F8E-94D8-11B0ABC93FDA}" type="presParOf" srcId="{C5120660-BFD2-41BF-B5BE-B0979C6D2B1E}" destId="{B9E19906-7E9B-4087-8369-B0E265C0C5AC}" srcOrd="0" destOrd="0" presId="urn:microsoft.com/office/officeart/2018/2/layout/IconVerticalSolidList"/>
    <dgm:cxn modelId="{04E05BAA-3245-4823-9AE0-E81AE36C8B18}" type="presParOf" srcId="{C5120660-BFD2-41BF-B5BE-B0979C6D2B1E}" destId="{B620CAE4-8A68-4E12-9266-4BF316C616F5}" srcOrd="1" destOrd="0" presId="urn:microsoft.com/office/officeart/2018/2/layout/IconVerticalSolidList"/>
    <dgm:cxn modelId="{2CFB7915-76D6-4466-A2BF-42903BD444A0}" type="presParOf" srcId="{C5120660-BFD2-41BF-B5BE-B0979C6D2B1E}" destId="{64BC00F1-C675-4348-9571-D06964D25CD3}" srcOrd="2" destOrd="0" presId="urn:microsoft.com/office/officeart/2018/2/layout/IconVerticalSolidList"/>
    <dgm:cxn modelId="{1A047F19-C5CF-48CD-96C3-D63AFE9CB86B}" type="presParOf" srcId="{C5120660-BFD2-41BF-B5BE-B0979C6D2B1E}" destId="{EAD70BB4-64AF-4CD3-9282-02AFC242C54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2A934C5-6BB0-4D97-9525-2AF9F5C216A4}" type="doc">
      <dgm:prSet loTypeId="urn:microsoft.com/office/officeart/2018/2/layout/IconVerticalSolidList" loCatId="icon" qsTypeId="urn:microsoft.com/office/officeart/2005/8/quickstyle/simple1" qsCatId="simple" csTypeId="urn:microsoft.com/office/officeart/2018/5/colors/Iconchunking_neutralbg_accent1_2" csCatId="accent1" phldr="1"/>
      <dgm:spPr/>
      <dgm:t>
        <a:bodyPr/>
        <a:lstStyle/>
        <a:p>
          <a:endParaRPr lang="en-US"/>
        </a:p>
      </dgm:t>
    </dgm:pt>
    <dgm:pt modelId="{4148894A-6EF9-4CA0-9674-4C434916FABE}">
      <dgm:prSet/>
      <dgm:spPr/>
      <dgm:t>
        <a:bodyPr/>
        <a:lstStyle/>
        <a:p>
          <a:pPr>
            <a:lnSpc>
              <a:spcPct val="100000"/>
            </a:lnSpc>
          </a:pPr>
          <a:r>
            <a:rPr lang="en-US" dirty="0"/>
            <a:t>Utilizes the MAX30100 sensor which monitors </a:t>
          </a:r>
          <a:r>
            <a:rPr lang="en-US" b="0" i="0" dirty="0"/>
            <a:t>saturation of peripheral oxygen (</a:t>
          </a:r>
          <a:r>
            <a:rPr lang="en-US" b="1" i="0" u="none" dirty="0"/>
            <a:t>SPO₂)  </a:t>
          </a:r>
          <a:r>
            <a:rPr lang="en-US" b="0" i="0" u="none" dirty="0"/>
            <a:t>to detect low oxygen levels early. </a:t>
          </a:r>
          <a:r>
            <a:rPr lang="en-US" dirty="0"/>
            <a:t>  </a:t>
          </a:r>
        </a:p>
      </dgm:t>
    </dgm:pt>
    <dgm:pt modelId="{5E99A45B-BEA3-4601-BD88-F0742EC063B4}" type="parTrans" cxnId="{FD398597-46EC-436F-B688-754E75387699}">
      <dgm:prSet/>
      <dgm:spPr/>
      <dgm:t>
        <a:bodyPr/>
        <a:lstStyle/>
        <a:p>
          <a:endParaRPr lang="en-US"/>
        </a:p>
      </dgm:t>
    </dgm:pt>
    <dgm:pt modelId="{F294E5DC-6A61-4DB3-B7AB-C6C2F9A629EB}" type="sibTrans" cxnId="{FD398597-46EC-436F-B688-754E75387699}">
      <dgm:prSet/>
      <dgm:spPr/>
      <dgm:t>
        <a:bodyPr/>
        <a:lstStyle/>
        <a:p>
          <a:endParaRPr lang="en-US"/>
        </a:p>
      </dgm:t>
    </dgm:pt>
    <dgm:pt modelId="{52A03498-B9F1-4D15-9B39-3DD47B104DC6}">
      <dgm:prSet/>
      <dgm:spPr/>
      <dgm:t>
        <a:bodyPr/>
        <a:lstStyle/>
        <a:p>
          <a:pPr algn="l">
            <a:lnSpc>
              <a:spcPct val="100000"/>
            </a:lnSpc>
          </a:pPr>
          <a:r>
            <a:rPr lang="en-US" dirty="0"/>
            <a:t>Utilizes the MLX90614 temperature sensor </a:t>
          </a:r>
          <a:r>
            <a:rPr lang="en-US" b="0" i="0" u="none" dirty="0"/>
            <a:t>for quick identification of abnormal temp changes.</a:t>
          </a:r>
          <a:endParaRPr lang="en-US" dirty="0"/>
        </a:p>
      </dgm:t>
    </dgm:pt>
    <dgm:pt modelId="{5E3F26BB-C0BB-4587-9EC7-7EB1C8D67F3D}" type="parTrans" cxnId="{F3D511CF-B21F-4739-B157-B3F5C19787A1}">
      <dgm:prSet/>
      <dgm:spPr/>
      <dgm:t>
        <a:bodyPr/>
        <a:lstStyle/>
        <a:p>
          <a:endParaRPr lang="en-US"/>
        </a:p>
      </dgm:t>
    </dgm:pt>
    <dgm:pt modelId="{F3F3B1D7-6D83-4EDD-9B4F-B6DBF399ABCB}" type="sibTrans" cxnId="{F3D511CF-B21F-4739-B157-B3F5C19787A1}">
      <dgm:prSet/>
      <dgm:spPr/>
      <dgm:t>
        <a:bodyPr/>
        <a:lstStyle/>
        <a:p>
          <a:endParaRPr lang="en-US"/>
        </a:p>
      </dgm:t>
    </dgm:pt>
    <dgm:pt modelId="{BB854E5A-BF39-44CD-A8BA-3D4071A7D390}">
      <dgm:prSet/>
      <dgm:spPr/>
      <dgm:t>
        <a:bodyPr/>
        <a:lstStyle/>
        <a:p>
          <a:pPr>
            <a:lnSpc>
              <a:spcPct val="100000"/>
            </a:lnSpc>
          </a:pPr>
          <a:r>
            <a:rPr lang="en-US" dirty="0"/>
            <a:t>MAX30100 sensor also monitors heart rate for continuous cardiovascular insight. </a:t>
          </a:r>
        </a:p>
      </dgm:t>
    </dgm:pt>
    <dgm:pt modelId="{757134E5-BAD4-441A-82DD-E0CA2A83200E}" type="parTrans" cxnId="{DDBB927F-B284-431E-AB75-9C151C862885}">
      <dgm:prSet/>
      <dgm:spPr/>
      <dgm:t>
        <a:bodyPr/>
        <a:lstStyle/>
        <a:p>
          <a:endParaRPr lang="en-US"/>
        </a:p>
      </dgm:t>
    </dgm:pt>
    <dgm:pt modelId="{AE9B0B0E-D54E-4E60-97CF-7CC19BA6439B}" type="sibTrans" cxnId="{DDBB927F-B284-431E-AB75-9C151C862885}">
      <dgm:prSet/>
      <dgm:spPr/>
      <dgm:t>
        <a:bodyPr/>
        <a:lstStyle/>
        <a:p>
          <a:endParaRPr lang="en-US"/>
        </a:p>
      </dgm:t>
    </dgm:pt>
    <dgm:pt modelId="{605466F7-64BE-46A2-999A-416693571649}">
      <dgm:prSet/>
      <dgm:spPr/>
      <dgm:t>
        <a:bodyPr/>
        <a:lstStyle/>
        <a:p>
          <a:pPr>
            <a:lnSpc>
              <a:spcPct val="100000"/>
            </a:lnSpc>
          </a:pPr>
          <a:r>
            <a:rPr lang="en-US" dirty="0"/>
            <a:t>When sensor levels are out of range emergency services are contacted immediately.  </a:t>
          </a:r>
        </a:p>
      </dgm:t>
    </dgm:pt>
    <dgm:pt modelId="{CC52342F-E860-467F-BD61-4105D51A4C26}" type="parTrans" cxnId="{DDC3D960-146D-4E61-894A-0D87035B6EFD}">
      <dgm:prSet/>
      <dgm:spPr/>
      <dgm:t>
        <a:bodyPr/>
        <a:lstStyle/>
        <a:p>
          <a:endParaRPr lang="en-US"/>
        </a:p>
      </dgm:t>
    </dgm:pt>
    <dgm:pt modelId="{B92EB028-F34A-498A-A088-FAEAE0D38572}" type="sibTrans" cxnId="{DDC3D960-146D-4E61-894A-0D87035B6EFD}">
      <dgm:prSet/>
      <dgm:spPr/>
      <dgm:t>
        <a:bodyPr/>
        <a:lstStyle/>
        <a:p>
          <a:endParaRPr lang="en-US"/>
        </a:p>
      </dgm:t>
    </dgm:pt>
    <dgm:pt modelId="{D19F0AEA-C25B-416A-B0B9-AA687BE2330C}" type="pres">
      <dgm:prSet presAssocID="{B2A934C5-6BB0-4D97-9525-2AF9F5C216A4}" presName="root" presStyleCnt="0">
        <dgm:presLayoutVars>
          <dgm:dir/>
          <dgm:resizeHandles val="exact"/>
        </dgm:presLayoutVars>
      </dgm:prSet>
      <dgm:spPr/>
    </dgm:pt>
    <dgm:pt modelId="{902F9924-2397-413E-950A-6B9C8DC1B777}" type="pres">
      <dgm:prSet presAssocID="{4148894A-6EF9-4CA0-9674-4C434916FABE}" presName="compNode" presStyleCnt="0"/>
      <dgm:spPr/>
    </dgm:pt>
    <dgm:pt modelId="{8618FF9E-7E84-4ABA-8D18-487385B23F81}" type="pres">
      <dgm:prSet presAssocID="{4148894A-6EF9-4CA0-9674-4C434916FABE}" presName="bgRect" presStyleLbl="bgShp" presStyleIdx="0" presStyleCnt="4"/>
      <dgm:spPr/>
    </dgm:pt>
    <dgm:pt modelId="{2FC4788A-1052-42CA-BA5F-45EA22832246}" type="pres">
      <dgm:prSet presAssocID="{4148894A-6EF9-4CA0-9674-4C434916FAB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rt with Pulse"/>
        </a:ext>
      </dgm:extLst>
    </dgm:pt>
    <dgm:pt modelId="{F36FA411-1C76-4545-86BC-D0C661240EFA}" type="pres">
      <dgm:prSet presAssocID="{4148894A-6EF9-4CA0-9674-4C434916FABE}" presName="spaceRect" presStyleCnt="0"/>
      <dgm:spPr/>
    </dgm:pt>
    <dgm:pt modelId="{572E990B-E1EC-4DA3-BADD-C6F3C8FC9D9F}" type="pres">
      <dgm:prSet presAssocID="{4148894A-6EF9-4CA0-9674-4C434916FABE}" presName="parTx" presStyleLbl="revTx" presStyleIdx="0" presStyleCnt="4">
        <dgm:presLayoutVars>
          <dgm:chMax val="0"/>
          <dgm:chPref val="0"/>
        </dgm:presLayoutVars>
      </dgm:prSet>
      <dgm:spPr/>
    </dgm:pt>
    <dgm:pt modelId="{AADBAAC8-FF76-410F-A652-01B3FE290D98}" type="pres">
      <dgm:prSet presAssocID="{F294E5DC-6A61-4DB3-B7AB-C6C2F9A629EB}" presName="sibTrans" presStyleCnt="0"/>
      <dgm:spPr/>
    </dgm:pt>
    <dgm:pt modelId="{9971045B-DC14-4C91-BFB9-7A3BD41BA349}" type="pres">
      <dgm:prSet presAssocID="{52A03498-B9F1-4D15-9B39-3DD47B104DC6}" presName="compNode" presStyleCnt="0"/>
      <dgm:spPr/>
    </dgm:pt>
    <dgm:pt modelId="{BB8896F4-6135-4C32-9C09-8A60BD0DB301}" type="pres">
      <dgm:prSet presAssocID="{52A03498-B9F1-4D15-9B39-3DD47B104DC6}" presName="bgRect" presStyleLbl="bgShp" presStyleIdx="1" presStyleCnt="4"/>
      <dgm:spPr/>
    </dgm:pt>
    <dgm:pt modelId="{9C02E2FF-1231-4908-BCC0-62339C0F5871}" type="pres">
      <dgm:prSet presAssocID="{52A03498-B9F1-4D15-9B39-3DD47B104DC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hermometer"/>
        </a:ext>
      </dgm:extLst>
    </dgm:pt>
    <dgm:pt modelId="{06ADCE3B-9E14-4076-9E69-C9533DA33B13}" type="pres">
      <dgm:prSet presAssocID="{52A03498-B9F1-4D15-9B39-3DD47B104DC6}" presName="spaceRect" presStyleCnt="0"/>
      <dgm:spPr/>
    </dgm:pt>
    <dgm:pt modelId="{DE34570A-7AEC-494B-BD3C-91F5658D045C}" type="pres">
      <dgm:prSet presAssocID="{52A03498-B9F1-4D15-9B39-3DD47B104DC6}" presName="parTx" presStyleLbl="revTx" presStyleIdx="1" presStyleCnt="4">
        <dgm:presLayoutVars>
          <dgm:chMax val="0"/>
          <dgm:chPref val="0"/>
        </dgm:presLayoutVars>
      </dgm:prSet>
      <dgm:spPr/>
    </dgm:pt>
    <dgm:pt modelId="{ADDC0D6D-DB43-4AA5-8F33-ADA7F5CDBAF2}" type="pres">
      <dgm:prSet presAssocID="{F3F3B1D7-6D83-4EDD-9B4F-B6DBF399ABCB}" presName="sibTrans" presStyleCnt="0"/>
      <dgm:spPr/>
    </dgm:pt>
    <dgm:pt modelId="{B0E69664-E0CE-4B51-B4B3-0496B714869A}" type="pres">
      <dgm:prSet presAssocID="{BB854E5A-BF39-44CD-A8BA-3D4071A7D390}" presName="compNode" presStyleCnt="0"/>
      <dgm:spPr/>
    </dgm:pt>
    <dgm:pt modelId="{E4F3711A-4F7C-4C11-A536-0780C2CC040C}" type="pres">
      <dgm:prSet presAssocID="{BB854E5A-BF39-44CD-A8BA-3D4071A7D390}" presName="bgRect" presStyleLbl="bgShp" presStyleIdx="2" presStyleCnt="4"/>
      <dgm:spPr/>
    </dgm:pt>
    <dgm:pt modelId="{719C7CCF-659E-43CC-BBB9-FD36F8588BDA}" type="pres">
      <dgm:prSet presAssocID="{BB854E5A-BF39-44CD-A8BA-3D4071A7D390}"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rt Organ"/>
        </a:ext>
      </dgm:extLst>
    </dgm:pt>
    <dgm:pt modelId="{B5935237-B2FA-4E9E-AAF1-0FA768571886}" type="pres">
      <dgm:prSet presAssocID="{BB854E5A-BF39-44CD-A8BA-3D4071A7D390}" presName="spaceRect" presStyleCnt="0"/>
      <dgm:spPr/>
    </dgm:pt>
    <dgm:pt modelId="{8B339958-820C-4A66-93D3-25D34CF4CD87}" type="pres">
      <dgm:prSet presAssocID="{BB854E5A-BF39-44CD-A8BA-3D4071A7D390}" presName="parTx" presStyleLbl="revTx" presStyleIdx="2" presStyleCnt="4">
        <dgm:presLayoutVars>
          <dgm:chMax val="0"/>
          <dgm:chPref val="0"/>
        </dgm:presLayoutVars>
      </dgm:prSet>
      <dgm:spPr/>
    </dgm:pt>
    <dgm:pt modelId="{1AC21D19-54A9-4E43-AC2A-1AE24B659CAA}" type="pres">
      <dgm:prSet presAssocID="{AE9B0B0E-D54E-4E60-97CF-7CC19BA6439B}" presName="sibTrans" presStyleCnt="0"/>
      <dgm:spPr/>
    </dgm:pt>
    <dgm:pt modelId="{AEB98B7C-C7C3-4E0F-9AF7-D91465A8E444}" type="pres">
      <dgm:prSet presAssocID="{605466F7-64BE-46A2-999A-416693571649}" presName="compNode" presStyleCnt="0"/>
      <dgm:spPr/>
    </dgm:pt>
    <dgm:pt modelId="{FAD44300-0650-461F-9347-4DCE0C511EA0}" type="pres">
      <dgm:prSet presAssocID="{605466F7-64BE-46A2-999A-416693571649}" presName="bgRect" presStyleLbl="bgShp" presStyleIdx="3" presStyleCnt="4" custLinFactNeighborY="2997"/>
      <dgm:spPr/>
    </dgm:pt>
    <dgm:pt modelId="{F269C640-ABFA-431B-88EF-2E4278E0FD9C}" type="pres">
      <dgm:prSet presAssocID="{605466F7-64BE-46A2-999A-416693571649}" presName="icon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Ambulance with solid fill"/>
        </a:ext>
      </dgm:extLst>
    </dgm:pt>
    <dgm:pt modelId="{794A79F5-2768-4EB3-9481-24FD8B02244A}" type="pres">
      <dgm:prSet presAssocID="{605466F7-64BE-46A2-999A-416693571649}" presName="spaceRect" presStyleCnt="0"/>
      <dgm:spPr/>
    </dgm:pt>
    <dgm:pt modelId="{880DCE94-BE26-42D6-8012-3158C9A1C92E}" type="pres">
      <dgm:prSet presAssocID="{605466F7-64BE-46A2-999A-416693571649}" presName="parTx" presStyleLbl="revTx" presStyleIdx="3" presStyleCnt="4">
        <dgm:presLayoutVars>
          <dgm:chMax val="0"/>
          <dgm:chPref val="0"/>
        </dgm:presLayoutVars>
      </dgm:prSet>
      <dgm:spPr/>
    </dgm:pt>
  </dgm:ptLst>
  <dgm:cxnLst>
    <dgm:cxn modelId="{B3196C3E-6FB8-43ED-8600-043802C55219}" type="presOf" srcId="{B2A934C5-6BB0-4D97-9525-2AF9F5C216A4}" destId="{D19F0AEA-C25B-416A-B0B9-AA687BE2330C}" srcOrd="0" destOrd="0" presId="urn:microsoft.com/office/officeart/2018/2/layout/IconVerticalSolidList"/>
    <dgm:cxn modelId="{DDC3D960-146D-4E61-894A-0D87035B6EFD}" srcId="{B2A934C5-6BB0-4D97-9525-2AF9F5C216A4}" destId="{605466F7-64BE-46A2-999A-416693571649}" srcOrd="3" destOrd="0" parTransId="{CC52342F-E860-467F-BD61-4105D51A4C26}" sibTransId="{B92EB028-F34A-498A-A088-FAEAE0D38572}"/>
    <dgm:cxn modelId="{95B1377D-A26B-4205-ACBB-A24267221275}" type="presOf" srcId="{4148894A-6EF9-4CA0-9674-4C434916FABE}" destId="{572E990B-E1EC-4DA3-BADD-C6F3C8FC9D9F}" srcOrd="0" destOrd="0" presId="urn:microsoft.com/office/officeart/2018/2/layout/IconVerticalSolidList"/>
    <dgm:cxn modelId="{DDBB927F-B284-431E-AB75-9C151C862885}" srcId="{B2A934C5-6BB0-4D97-9525-2AF9F5C216A4}" destId="{BB854E5A-BF39-44CD-A8BA-3D4071A7D390}" srcOrd="2" destOrd="0" parTransId="{757134E5-BAD4-441A-82DD-E0CA2A83200E}" sibTransId="{AE9B0B0E-D54E-4E60-97CF-7CC19BA6439B}"/>
    <dgm:cxn modelId="{FD398597-46EC-436F-B688-754E75387699}" srcId="{B2A934C5-6BB0-4D97-9525-2AF9F5C216A4}" destId="{4148894A-6EF9-4CA0-9674-4C434916FABE}" srcOrd="0" destOrd="0" parTransId="{5E99A45B-BEA3-4601-BD88-F0742EC063B4}" sibTransId="{F294E5DC-6A61-4DB3-B7AB-C6C2F9A629EB}"/>
    <dgm:cxn modelId="{F3D511CF-B21F-4739-B157-B3F5C19787A1}" srcId="{B2A934C5-6BB0-4D97-9525-2AF9F5C216A4}" destId="{52A03498-B9F1-4D15-9B39-3DD47B104DC6}" srcOrd="1" destOrd="0" parTransId="{5E3F26BB-C0BB-4587-9EC7-7EB1C8D67F3D}" sibTransId="{F3F3B1D7-6D83-4EDD-9B4F-B6DBF399ABCB}"/>
    <dgm:cxn modelId="{018D08D7-CC6C-4ECC-9432-7F4DCE8EA23D}" type="presOf" srcId="{BB854E5A-BF39-44CD-A8BA-3D4071A7D390}" destId="{8B339958-820C-4A66-93D3-25D34CF4CD87}" srcOrd="0" destOrd="0" presId="urn:microsoft.com/office/officeart/2018/2/layout/IconVerticalSolidList"/>
    <dgm:cxn modelId="{D1FF9FE0-1CF7-4A51-8497-CF2AA778D04C}" type="presOf" srcId="{605466F7-64BE-46A2-999A-416693571649}" destId="{880DCE94-BE26-42D6-8012-3158C9A1C92E}" srcOrd="0" destOrd="0" presId="urn:microsoft.com/office/officeart/2018/2/layout/IconVerticalSolidList"/>
    <dgm:cxn modelId="{6CC477FD-0002-4A91-A140-8B4FFA2070B9}" type="presOf" srcId="{52A03498-B9F1-4D15-9B39-3DD47B104DC6}" destId="{DE34570A-7AEC-494B-BD3C-91F5658D045C}" srcOrd="0" destOrd="0" presId="urn:microsoft.com/office/officeart/2018/2/layout/IconVerticalSolidList"/>
    <dgm:cxn modelId="{BBB0BFCB-BC1C-4661-AABF-E7C1903914A4}" type="presParOf" srcId="{D19F0AEA-C25B-416A-B0B9-AA687BE2330C}" destId="{902F9924-2397-413E-950A-6B9C8DC1B777}" srcOrd="0" destOrd="0" presId="urn:microsoft.com/office/officeart/2018/2/layout/IconVerticalSolidList"/>
    <dgm:cxn modelId="{36E511B2-C93B-4F58-AFC5-BA0601E9246D}" type="presParOf" srcId="{902F9924-2397-413E-950A-6B9C8DC1B777}" destId="{8618FF9E-7E84-4ABA-8D18-487385B23F81}" srcOrd="0" destOrd="0" presId="urn:microsoft.com/office/officeart/2018/2/layout/IconVerticalSolidList"/>
    <dgm:cxn modelId="{0CE778BF-6837-4B70-9AD9-EDB49D597C4A}" type="presParOf" srcId="{902F9924-2397-413E-950A-6B9C8DC1B777}" destId="{2FC4788A-1052-42CA-BA5F-45EA22832246}" srcOrd="1" destOrd="0" presId="urn:microsoft.com/office/officeart/2018/2/layout/IconVerticalSolidList"/>
    <dgm:cxn modelId="{CB91E4DA-E1CB-4220-90FE-9745310DF175}" type="presParOf" srcId="{902F9924-2397-413E-950A-6B9C8DC1B777}" destId="{F36FA411-1C76-4545-86BC-D0C661240EFA}" srcOrd="2" destOrd="0" presId="urn:microsoft.com/office/officeart/2018/2/layout/IconVerticalSolidList"/>
    <dgm:cxn modelId="{352D1E6F-6252-42A3-9271-C2E956D45951}" type="presParOf" srcId="{902F9924-2397-413E-950A-6B9C8DC1B777}" destId="{572E990B-E1EC-4DA3-BADD-C6F3C8FC9D9F}" srcOrd="3" destOrd="0" presId="urn:microsoft.com/office/officeart/2018/2/layout/IconVerticalSolidList"/>
    <dgm:cxn modelId="{F5488B7C-7BBD-4976-941B-3B01D806118A}" type="presParOf" srcId="{D19F0AEA-C25B-416A-B0B9-AA687BE2330C}" destId="{AADBAAC8-FF76-410F-A652-01B3FE290D98}" srcOrd="1" destOrd="0" presId="urn:microsoft.com/office/officeart/2018/2/layout/IconVerticalSolidList"/>
    <dgm:cxn modelId="{16E2931E-4708-4837-94C7-3F72A52EC7AE}" type="presParOf" srcId="{D19F0AEA-C25B-416A-B0B9-AA687BE2330C}" destId="{9971045B-DC14-4C91-BFB9-7A3BD41BA349}" srcOrd="2" destOrd="0" presId="urn:microsoft.com/office/officeart/2018/2/layout/IconVerticalSolidList"/>
    <dgm:cxn modelId="{BC840161-9386-4857-A2C8-39403A60D009}" type="presParOf" srcId="{9971045B-DC14-4C91-BFB9-7A3BD41BA349}" destId="{BB8896F4-6135-4C32-9C09-8A60BD0DB301}" srcOrd="0" destOrd="0" presId="urn:microsoft.com/office/officeart/2018/2/layout/IconVerticalSolidList"/>
    <dgm:cxn modelId="{1EDF246D-09E7-485D-ABB9-33AB178A9129}" type="presParOf" srcId="{9971045B-DC14-4C91-BFB9-7A3BD41BA349}" destId="{9C02E2FF-1231-4908-BCC0-62339C0F5871}" srcOrd="1" destOrd="0" presId="urn:microsoft.com/office/officeart/2018/2/layout/IconVerticalSolidList"/>
    <dgm:cxn modelId="{1B83B2F0-0BA6-4616-87D5-19EC400AD813}" type="presParOf" srcId="{9971045B-DC14-4C91-BFB9-7A3BD41BA349}" destId="{06ADCE3B-9E14-4076-9E69-C9533DA33B13}" srcOrd="2" destOrd="0" presId="urn:microsoft.com/office/officeart/2018/2/layout/IconVerticalSolidList"/>
    <dgm:cxn modelId="{763ADDCA-A83F-473F-B7A7-9D4D9D75AB65}" type="presParOf" srcId="{9971045B-DC14-4C91-BFB9-7A3BD41BA349}" destId="{DE34570A-7AEC-494B-BD3C-91F5658D045C}" srcOrd="3" destOrd="0" presId="urn:microsoft.com/office/officeart/2018/2/layout/IconVerticalSolidList"/>
    <dgm:cxn modelId="{739E06E5-C1C1-42E0-A555-D700A53FCBC1}" type="presParOf" srcId="{D19F0AEA-C25B-416A-B0B9-AA687BE2330C}" destId="{ADDC0D6D-DB43-4AA5-8F33-ADA7F5CDBAF2}" srcOrd="3" destOrd="0" presId="urn:microsoft.com/office/officeart/2018/2/layout/IconVerticalSolidList"/>
    <dgm:cxn modelId="{A255B5A1-C29C-49CE-A889-DBE46F20A683}" type="presParOf" srcId="{D19F0AEA-C25B-416A-B0B9-AA687BE2330C}" destId="{B0E69664-E0CE-4B51-B4B3-0496B714869A}" srcOrd="4" destOrd="0" presId="urn:microsoft.com/office/officeart/2018/2/layout/IconVerticalSolidList"/>
    <dgm:cxn modelId="{4281BF90-8407-4904-8226-126C7A25D459}" type="presParOf" srcId="{B0E69664-E0CE-4B51-B4B3-0496B714869A}" destId="{E4F3711A-4F7C-4C11-A536-0780C2CC040C}" srcOrd="0" destOrd="0" presId="urn:microsoft.com/office/officeart/2018/2/layout/IconVerticalSolidList"/>
    <dgm:cxn modelId="{9467B5D9-DBB4-489B-849D-2B76C765DE37}" type="presParOf" srcId="{B0E69664-E0CE-4B51-B4B3-0496B714869A}" destId="{719C7CCF-659E-43CC-BBB9-FD36F8588BDA}" srcOrd="1" destOrd="0" presId="urn:microsoft.com/office/officeart/2018/2/layout/IconVerticalSolidList"/>
    <dgm:cxn modelId="{3A00BE13-679C-49CA-B17A-A13655782078}" type="presParOf" srcId="{B0E69664-E0CE-4B51-B4B3-0496B714869A}" destId="{B5935237-B2FA-4E9E-AAF1-0FA768571886}" srcOrd="2" destOrd="0" presId="urn:microsoft.com/office/officeart/2018/2/layout/IconVerticalSolidList"/>
    <dgm:cxn modelId="{8CB33FE4-F201-4910-83A2-3F0257C90379}" type="presParOf" srcId="{B0E69664-E0CE-4B51-B4B3-0496B714869A}" destId="{8B339958-820C-4A66-93D3-25D34CF4CD87}" srcOrd="3" destOrd="0" presId="urn:microsoft.com/office/officeart/2018/2/layout/IconVerticalSolidList"/>
    <dgm:cxn modelId="{6856218F-5E72-460D-8771-D85CEA195D3A}" type="presParOf" srcId="{D19F0AEA-C25B-416A-B0B9-AA687BE2330C}" destId="{1AC21D19-54A9-4E43-AC2A-1AE24B659CAA}" srcOrd="5" destOrd="0" presId="urn:microsoft.com/office/officeart/2018/2/layout/IconVerticalSolidList"/>
    <dgm:cxn modelId="{4BAA7949-83A8-440C-B905-A9463FCE7058}" type="presParOf" srcId="{D19F0AEA-C25B-416A-B0B9-AA687BE2330C}" destId="{AEB98B7C-C7C3-4E0F-9AF7-D91465A8E444}" srcOrd="6" destOrd="0" presId="urn:microsoft.com/office/officeart/2018/2/layout/IconVerticalSolidList"/>
    <dgm:cxn modelId="{2F818896-9595-46A3-B512-635E339B612F}" type="presParOf" srcId="{AEB98B7C-C7C3-4E0F-9AF7-D91465A8E444}" destId="{FAD44300-0650-461F-9347-4DCE0C511EA0}" srcOrd="0" destOrd="0" presId="urn:microsoft.com/office/officeart/2018/2/layout/IconVerticalSolidList"/>
    <dgm:cxn modelId="{F94E8925-1DBD-401B-948E-DF9E3E824690}" type="presParOf" srcId="{AEB98B7C-C7C3-4E0F-9AF7-D91465A8E444}" destId="{F269C640-ABFA-431B-88EF-2E4278E0FD9C}" srcOrd="1" destOrd="0" presId="urn:microsoft.com/office/officeart/2018/2/layout/IconVerticalSolidList"/>
    <dgm:cxn modelId="{21A523D2-30D6-4747-B26F-4B9BA56BFAB1}" type="presParOf" srcId="{AEB98B7C-C7C3-4E0F-9AF7-D91465A8E444}" destId="{794A79F5-2768-4EB3-9481-24FD8B02244A}" srcOrd="2" destOrd="0" presId="urn:microsoft.com/office/officeart/2018/2/layout/IconVerticalSolidList"/>
    <dgm:cxn modelId="{47CB93E2-98BE-431A-ABC5-2800FD4A97CA}" type="presParOf" srcId="{AEB98B7C-C7C3-4E0F-9AF7-D91465A8E444}" destId="{880DCE94-BE26-42D6-8012-3158C9A1C92E}" srcOrd="3" destOrd="0" presId="urn:microsoft.com/office/officeart/2018/2/layout/IconVerticalSolid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0B3340-666D-47FA-9D66-8C45454CC632}">
      <dsp:nvSpPr>
        <dsp:cNvPr id="0" name=""/>
        <dsp:cNvSpPr/>
      </dsp:nvSpPr>
      <dsp:spPr>
        <a:xfrm>
          <a:off x="282221" y="368029"/>
          <a:ext cx="1371985" cy="137198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8D86E3-2133-45B8-949A-717E18C12DC1}">
      <dsp:nvSpPr>
        <dsp:cNvPr id="0" name=""/>
        <dsp:cNvSpPr/>
      </dsp:nvSpPr>
      <dsp:spPr>
        <a:xfrm>
          <a:off x="570337" y="656145"/>
          <a:ext cx="795751" cy="7957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8CBF907-D522-43CC-951C-7DA6B043B3A5}">
      <dsp:nvSpPr>
        <dsp:cNvPr id="0" name=""/>
        <dsp:cNvSpPr/>
      </dsp:nvSpPr>
      <dsp:spPr>
        <a:xfrm>
          <a:off x="1948202"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Utilizes communication and control through the Core2 UART(G13/G14) interface.</a:t>
          </a:r>
          <a:endParaRPr lang="en-US" sz="2100" kern="1200" dirty="0"/>
        </a:p>
      </dsp:txBody>
      <dsp:txXfrm>
        <a:off x="1948202" y="368029"/>
        <a:ext cx="3233964" cy="1371985"/>
      </dsp:txXfrm>
    </dsp:sp>
    <dsp:sp modelId="{C3509C5A-220B-44F4-B748-1E9B37054E97}">
      <dsp:nvSpPr>
        <dsp:cNvPr id="0" name=""/>
        <dsp:cNvSpPr/>
      </dsp:nvSpPr>
      <dsp:spPr>
        <a:xfrm>
          <a:off x="5745661" y="368029"/>
          <a:ext cx="1371985" cy="137198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F75168-3B8D-4896-95A8-6DCEE24D8B11}">
      <dsp:nvSpPr>
        <dsp:cNvPr id="0" name=""/>
        <dsp:cNvSpPr/>
      </dsp:nvSpPr>
      <dsp:spPr>
        <a:xfrm>
          <a:off x="6033778" y="656145"/>
          <a:ext cx="795751" cy="7957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B9B73F2-22E9-4D84-8F6F-074C7FA4A3A1}">
      <dsp:nvSpPr>
        <dsp:cNvPr id="0" name=""/>
        <dsp:cNvSpPr/>
      </dsp:nvSpPr>
      <dsp:spPr>
        <a:xfrm>
          <a:off x="7411643"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Performs integrated offline AI computing and data communication.</a:t>
          </a:r>
          <a:endParaRPr lang="en-US" sz="2100" kern="1200" dirty="0"/>
        </a:p>
      </dsp:txBody>
      <dsp:txXfrm>
        <a:off x="7411643" y="368029"/>
        <a:ext cx="3233964" cy="1371985"/>
      </dsp:txXfrm>
    </dsp:sp>
    <dsp:sp modelId="{0C632253-DE52-47DF-856F-4E4BA77BE01D}">
      <dsp:nvSpPr>
        <dsp:cNvPr id="0" name=""/>
        <dsp:cNvSpPr/>
      </dsp:nvSpPr>
      <dsp:spPr>
        <a:xfrm>
          <a:off x="282221" y="2452790"/>
          <a:ext cx="1371985" cy="137198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7F8B9D-2D4E-419D-9C7E-26CFEB79CAA1}">
      <dsp:nvSpPr>
        <dsp:cNvPr id="0" name=""/>
        <dsp:cNvSpPr/>
      </dsp:nvSpPr>
      <dsp:spPr>
        <a:xfrm>
          <a:off x="570337" y="2740907"/>
          <a:ext cx="795751" cy="7957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9D312D-5615-4EAE-9E97-13284569C679}">
      <dsp:nvSpPr>
        <dsp:cNvPr id="0" name=""/>
        <dsp:cNvSpPr/>
      </dsp:nvSpPr>
      <dsp:spPr>
        <a:xfrm>
          <a:off x="1948202"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Energy efficient operation of 1.5W power consumption. 1 GB system memory, 3GB to hardware acceleration.</a:t>
          </a:r>
          <a:endParaRPr lang="en-US" sz="2100" kern="1200" dirty="0"/>
        </a:p>
      </dsp:txBody>
      <dsp:txXfrm>
        <a:off x="1948202" y="2452790"/>
        <a:ext cx="3233964" cy="1371985"/>
      </dsp:txXfrm>
    </dsp:sp>
    <dsp:sp modelId="{2015A42C-B9C5-478E-8388-6889B14092F7}">
      <dsp:nvSpPr>
        <dsp:cNvPr id="0" name=""/>
        <dsp:cNvSpPr/>
      </dsp:nvSpPr>
      <dsp:spPr>
        <a:xfrm>
          <a:off x="5745661" y="2452790"/>
          <a:ext cx="1371985" cy="137198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ED7D08-13E2-423C-B6DD-EBBC9E5F2DD2}">
      <dsp:nvSpPr>
        <dsp:cNvPr id="0" name=""/>
        <dsp:cNvSpPr/>
      </dsp:nvSpPr>
      <dsp:spPr>
        <a:xfrm>
          <a:off x="6033778" y="2740907"/>
          <a:ext cx="795751" cy="795751"/>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5573E8-056A-49A4-81C9-9CEC691921E4}">
      <dsp:nvSpPr>
        <dsp:cNvPr id="0" name=""/>
        <dsp:cNvSpPr/>
      </dsp:nvSpPr>
      <dsp:spPr>
        <a:xfrm>
          <a:off x="7411643"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Voice activated phrase “Call Help” in case of emergency.</a:t>
          </a:r>
          <a:endParaRPr lang="en-US" sz="2100" kern="1200" dirty="0"/>
        </a:p>
      </dsp:txBody>
      <dsp:txXfrm>
        <a:off x="7411643" y="2452790"/>
        <a:ext cx="3233964" cy="13719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B65525-98AE-4ECA-917F-33D650866BFC}">
      <dsp:nvSpPr>
        <dsp:cNvPr id="0" name=""/>
        <dsp:cNvSpPr/>
      </dsp:nvSpPr>
      <dsp:spPr>
        <a:xfrm>
          <a:off x="147899" y="1064826"/>
          <a:ext cx="1405429" cy="1405429"/>
        </a:xfrm>
        <a:prstGeom prst="ellipse">
          <a:avLst/>
        </a:prstGeom>
        <a:solidFill>
          <a:schemeClr val="accent1">
            <a:hueOff val="0"/>
            <a:satOff val="0"/>
            <a:lumOff val="0"/>
            <a:alphaOff val="0"/>
          </a:schemeClr>
        </a:solidFill>
        <a:ln>
          <a:solidFill>
            <a:schemeClr val="tx1">
              <a:lumMod val="95000"/>
              <a:lumOff val="5000"/>
            </a:schemeClr>
          </a:solidFill>
        </a:ln>
        <a:effectLst/>
      </dsp:spPr>
      <dsp:style>
        <a:lnRef idx="0">
          <a:scrgbClr r="0" g="0" b="0"/>
        </a:lnRef>
        <a:fillRef idx="1">
          <a:scrgbClr r="0" g="0" b="0"/>
        </a:fillRef>
        <a:effectRef idx="0">
          <a:scrgbClr r="0" g="0" b="0"/>
        </a:effectRef>
        <a:fontRef idx="minor"/>
      </dsp:style>
    </dsp:sp>
    <dsp:sp modelId="{6EAC1FA7-E689-4365-8E63-D04434712DF0}">
      <dsp:nvSpPr>
        <dsp:cNvPr id="0" name=""/>
        <dsp:cNvSpPr/>
      </dsp:nvSpPr>
      <dsp:spPr>
        <a:xfrm>
          <a:off x="443039" y="1359967"/>
          <a:ext cx="815148" cy="815148"/>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BF79F1-229F-4BD2-965B-A8C2D97D42D0}">
      <dsp:nvSpPr>
        <dsp:cNvPr id="0" name=""/>
        <dsp:cNvSpPr/>
      </dsp:nvSpPr>
      <dsp:spPr>
        <a:xfrm>
          <a:off x="1854492" y="1064826"/>
          <a:ext cx="3312797" cy="14054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Video Demo:</a:t>
          </a:r>
        </a:p>
      </dsp:txBody>
      <dsp:txXfrm>
        <a:off x="1854492" y="1064826"/>
        <a:ext cx="3312797" cy="140542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3B8A64-F944-4DD8-B1E6-86FF5F2B702A}">
      <dsp:nvSpPr>
        <dsp:cNvPr id="0" name=""/>
        <dsp:cNvSpPr/>
      </dsp:nvSpPr>
      <dsp:spPr>
        <a:xfrm>
          <a:off x="0" y="531"/>
          <a:ext cx="5393361" cy="1242935"/>
        </a:xfrm>
        <a:prstGeom prst="roundRect">
          <a:avLst>
            <a:gd name="adj" fmla="val 10000"/>
          </a:avLst>
        </a:prstGeom>
        <a:solidFill>
          <a:schemeClr val="accent2">
            <a:lumMod val="40000"/>
            <a:lumOff val="60000"/>
          </a:schemeClr>
        </a:solidFill>
        <a:ln>
          <a:noFill/>
        </a:ln>
        <a:effectLst/>
      </dsp:spPr>
      <dsp:style>
        <a:lnRef idx="0">
          <a:scrgbClr r="0" g="0" b="0"/>
        </a:lnRef>
        <a:fillRef idx="1">
          <a:scrgbClr r="0" g="0" b="0"/>
        </a:fillRef>
        <a:effectRef idx="0">
          <a:scrgbClr r="0" g="0" b="0"/>
        </a:effectRef>
        <a:fontRef idx="minor"/>
      </dsp:style>
    </dsp:sp>
    <dsp:sp modelId="{1038E234-1E32-4365-9748-CE1E98DF366D}">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BF10A0-53A2-49D0-AD24-1D59F8E1F32D}">
      <dsp:nvSpPr>
        <dsp:cNvPr id="0" name=""/>
        <dsp:cNvSpPr/>
      </dsp:nvSpPr>
      <dsp:spPr>
        <a:xfrm>
          <a:off x="1435590" y="531"/>
          <a:ext cx="3957770"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dirty="0"/>
            <a:t>Request send to Blynk cloud immediately through HTTP. </a:t>
          </a:r>
        </a:p>
      </dsp:txBody>
      <dsp:txXfrm>
        <a:off x="1435590" y="531"/>
        <a:ext cx="3957770" cy="1242935"/>
      </dsp:txXfrm>
    </dsp:sp>
    <dsp:sp modelId="{B313842B-3B7A-40F6-BC65-6DC36D3EBEAC}">
      <dsp:nvSpPr>
        <dsp:cNvPr id="0" name=""/>
        <dsp:cNvSpPr/>
      </dsp:nvSpPr>
      <dsp:spPr>
        <a:xfrm>
          <a:off x="0" y="1554201"/>
          <a:ext cx="5393361" cy="1242935"/>
        </a:xfrm>
        <a:prstGeom prst="roundRect">
          <a:avLst>
            <a:gd name="adj" fmla="val 10000"/>
          </a:avLst>
        </a:prstGeom>
        <a:solidFill>
          <a:schemeClr val="accent2">
            <a:lumMod val="40000"/>
            <a:lumOff val="60000"/>
          </a:schemeClr>
        </a:solidFill>
        <a:ln>
          <a:noFill/>
        </a:ln>
        <a:effectLst/>
      </dsp:spPr>
      <dsp:style>
        <a:lnRef idx="0">
          <a:scrgbClr r="0" g="0" b="0"/>
        </a:lnRef>
        <a:fillRef idx="1">
          <a:scrgbClr r="0" g="0" b="0"/>
        </a:fillRef>
        <a:effectRef idx="0">
          <a:scrgbClr r="0" g="0" b="0"/>
        </a:effectRef>
        <a:fontRef idx="minor"/>
      </dsp:style>
    </dsp:sp>
    <dsp:sp modelId="{99026D3F-857D-42DC-B54F-C8E5CD0259A0}">
      <dsp:nvSpPr>
        <dsp:cNvPr id="0" name=""/>
        <dsp:cNvSpPr/>
      </dsp:nvSpPr>
      <dsp:spPr>
        <a:xfrm>
          <a:off x="375988" y="1833861"/>
          <a:ext cx="683614" cy="683614"/>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1BC00A-266B-436F-91C8-93A578462363}">
      <dsp:nvSpPr>
        <dsp:cNvPr id="0" name=""/>
        <dsp:cNvSpPr/>
      </dsp:nvSpPr>
      <dsp:spPr>
        <a:xfrm>
          <a:off x="1435590" y="1554201"/>
          <a:ext cx="3957770"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dirty="0"/>
            <a:t>Once pressed user is notified on screen that request was delivered. </a:t>
          </a:r>
        </a:p>
      </dsp:txBody>
      <dsp:txXfrm>
        <a:off x="1435590" y="1554201"/>
        <a:ext cx="3957770" cy="1242935"/>
      </dsp:txXfrm>
    </dsp:sp>
    <dsp:sp modelId="{B9E19906-7E9B-4087-8369-B0E265C0C5AC}">
      <dsp:nvSpPr>
        <dsp:cNvPr id="0" name=""/>
        <dsp:cNvSpPr/>
      </dsp:nvSpPr>
      <dsp:spPr>
        <a:xfrm>
          <a:off x="0" y="3107870"/>
          <a:ext cx="5393361" cy="1242935"/>
        </a:xfrm>
        <a:prstGeom prst="roundRect">
          <a:avLst>
            <a:gd name="adj" fmla="val 10000"/>
          </a:avLst>
        </a:prstGeom>
        <a:solidFill>
          <a:schemeClr val="accent2">
            <a:lumMod val="40000"/>
            <a:lumOff val="60000"/>
          </a:schemeClr>
        </a:solidFill>
        <a:ln>
          <a:noFill/>
        </a:ln>
        <a:effectLst/>
      </dsp:spPr>
      <dsp:style>
        <a:lnRef idx="0">
          <a:scrgbClr r="0" g="0" b="0"/>
        </a:lnRef>
        <a:fillRef idx="1">
          <a:scrgbClr r="0" g="0" b="0"/>
        </a:fillRef>
        <a:effectRef idx="0">
          <a:scrgbClr r="0" g="0" b="0"/>
        </a:effectRef>
        <a:fontRef idx="minor"/>
      </dsp:style>
    </dsp:sp>
    <dsp:sp modelId="{B620CAE4-8A68-4E12-9266-4BF316C616F5}">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D70BB4-64AF-4CD3-9282-02AFC242C549}">
      <dsp:nvSpPr>
        <dsp:cNvPr id="0" name=""/>
        <dsp:cNvSpPr/>
      </dsp:nvSpPr>
      <dsp:spPr>
        <a:xfrm>
          <a:off x="1435590" y="3107870"/>
          <a:ext cx="3957770"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dirty="0"/>
            <a:t>Video Demo: </a:t>
          </a:r>
        </a:p>
      </dsp:txBody>
      <dsp:txXfrm>
        <a:off x="1435590" y="3107870"/>
        <a:ext cx="3957770" cy="124293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18FF9E-7E84-4ABA-8D18-487385B23F81}">
      <dsp:nvSpPr>
        <dsp:cNvPr id="0" name=""/>
        <dsp:cNvSpPr/>
      </dsp:nvSpPr>
      <dsp:spPr>
        <a:xfrm>
          <a:off x="0" y="1805"/>
          <a:ext cx="5393361" cy="91531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C4788A-1052-42CA-BA5F-45EA22832246}">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72E990B-E1EC-4DA3-BADD-C6F3C8FC9D9F}">
      <dsp:nvSpPr>
        <dsp:cNvPr id="0" name=""/>
        <dsp:cNvSpPr/>
      </dsp:nvSpPr>
      <dsp:spPr>
        <a:xfrm>
          <a:off x="1057183" y="1805"/>
          <a:ext cx="4336177"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666750">
            <a:lnSpc>
              <a:spcPct val="100000"/>
            </a:lnSpc>
            <a:spcBef>
              <a:spcPct val="0"/>
            </a:spcBef>
            <a:spcAft>
              <a:spcPct val="35000"/>
            </a:spcAft>
            <a:buNone/>
          </a:pPr>
          <a:r>
            <a:rPr lang="en-US" sz="1500" kern="1200" dirty="0"/>
            <a:t>Utilizes the MAX30100 sensor which monitors </a:t>
          </a:r>
          <a:r>
            <a:rPr lang="en-US" sz="1500" b="0" i="0" kern="1200" dirty="0"/>
            <a:t>saturation of peripheral oxygen (</a:t>
          </a:r>
          <a:r>
            <a:rPr lang="en-US" sz="1500" b="1" i="0" u="none" kern="1200" dirty="0"/>
            <a:t>SPO₂)  </a:t>
          </a:r>
          <a:r>
            <a:rPr lang="en-US" sz="1500" b="0" i="0" u="none" kern="1200" dirty="0"/>
            <a:t>to detect low oxygen levels early. </a:t>
          </a:r>
          <a:r>
            <a:rPr lang="en-US" sz="1500" kern="1200" dirty="0"/>
            <a:t>  </a:t>
          </a:r>
        </a:p>
      </dsp:txBody>
      <dsp:txXfrm>
        <a:off x="1057183" y="1805"/>
        <a:ext cx="4336177" cy="915310"/>
      </dsp:txXfrm>
    </dsp:sp>
    <dsp:sp modelId="{BB8896F4-6135-4C32-9C09-8A60BD0DB301}">
      <dsp:nvSpPr>
        <dsp:cNvPr id="0" name=""/>
        <dsp:cNvSpPr/>
      </dsp:nvSpPr>
      <dsp:spPr>
        <a:xfrm>
          <a:off x="0" y="1145944"/>
          <a:ext cx="5393361" cy="91531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02E2FF-1231-4908-BCC0-62339C0F5871}">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E34570A-7AEC-494B-BD3C-91F5658D045C}">
      <dsp:nvSpPr>
        <dsp:cNvPr id="0" name=""/>
        <dsp:cNvSpPr/>
      </dsp:nvSpPr>
      <dsp:spPr>
        <a:xfrm>
          <a:off x="1057183" y="1145944"/>
          <a:ext cx="4336177"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666750">
            <a:lnSpc>
              <a:spcPct val="100000"/>
            </a:lnSpc>
            <a:spcBef>
              <a:spcPct val="0"/>
            </a:spcBef>
            <a:spcAft>
              <a:spcPct val="35000"/>
            </a:spcAft>
            <a:buNone/>
          </a:pPr>
          <a:r>
            <a:rPr lang="en-US" sz="1500" kern="1200" dirty="0"/>
            <a:t>Utilizes the MLX90614 temperature sensor </a:t>
          </a:r>
          <a:r>
            <a:rPr lang="en-US" sz="1500" b="0" i="0" u="none" kern="1200" dirty="0"/>
            <a:t>for quick identification of abnormal temp changes.</a:t>
          </a:r>
          <a:endParaRPr lang="en-US" sz="1500" kern="1200" dirty="0"/>
        </a:p>
      </dsp:txBody>
      <dsp:txXfrm>
        <a:off x="1057183" y="1145944"/>
        <a:ext cx="4336177" cy="915310"/>
      </dsp:txXfrm>
    </dsp:sp>
    <dsp:sp modelId="{E4F3711A-4F7C-4C11-A536-0780C2CC040C}">
      <dsp:nvSpPr>
        <dsp:cNvPr id="0" name=""/>
        <dsp:cNvSpPr/>
      </dsp:nvSpPr>
      <dsp:spPr>
        <a:xfrm>
          <a:off x="0" y="2290082"/>
          <a:ext cx="5393361" cy="91531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9C7CCF-659E-43CC-BBB9-FD36F8588BDA}">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339958-820C-4A66-93D3-25D34CF4CD87}">
      <dsp:nvSpPr>
        <dsp:cNvPr id="0" name=""/>
        <dsp:cNvSpPr/>
      </dsp:nvSpPr>
      <dsp:spPr>
        <a:xfrm>
          <a:off x="1057183" y="2290082"/>
          <a:ext cx="4336177"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666750">
            <a:lnSpc>
              <a:spcPct val="100000"/>
            </a:lnSpc>
            <a:spcBef>
              <a:spcPct val="0"/>
            </a:spcBef>
            <a:spcAft>
              <a:spcPct val="35000"/>
            </a:spcAft>
            <a:buNone/>
          </a:pPr>
          <a:r>
            <a:rPr lang="en-US" sz="1500" kern="1200" dirty="0"/>
            <a:t>MAX30100 sensor also monitors heart rate for continuous cardiovascular insight. </a:t>
          </a:r>
        </a:p>
      </dsp:txBody>
      <dsp:txXfrm>
        <a:off x="1057183" y="2290082"/>
        <a:ext cx="4336177" cy="915310"/>
      </dsp:txXfrm>
    </dsp:sp>
    <dsp:sp modelId="{FAD44300-0650-461F-9347-4DCE0C511EA0}">
      <dsp:nvSpPr>
        <dsp:cNvPr id="0" name=""/>
        <dsp:cNvSpPr/>
      </dsp:nvSpPr>
      <dsp:spPr>
        <a:xfrm>
          <a:off x="0" y="3436027"/>
          <a:ext cx="5393361" cy="91531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69C640-ABFA-431B-88EF-2E4278E0FD9C}">
      <dsp:nvSpPr>
        <dsp:cNvPr id="0" name=""/>
        <dsp:cNvSpPr/>
      </dsp:nvSpPr>
      <dsp:spPr>
        <a:xfrm>
          <a:off x="276881" y="3640166"/>
          <a:ext cx="503420" cy="503420"/>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80DCE94-BE26-42D6-8012-3158C9A1C92E}">
      <dsp:nvSpPr>
        <dsp:cNvPr id="0" name=""/>
        <dsp:cNvSpPr/>
      </dsp:nvSpPr>
      <dsp:spPr>
        <a:xfrm>
          <a:off x="1057183" y="3434221"/>
          <a:ext cx="4336177"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666750">
            <a:lnSpc>
              <a:spcPct val="100000"/>
            </a:lnSpc>
            <a:spcBef>
              <a:spcPct val="0"/>
            </a:spcBef>
            <a:spcAft>
              <a:spcPct val="35000"/>
            </a:spcAft>
            <a:buNone/>
          </a:pPr>
          <a:r>
            <a:rPr lang="en-US" sz="1500" kern="1200" dirty="0"/>
            <a:t>When sensor levels are out of range emergency services are contacted immediately.  </a:t>
          </a:r>
        </a:p>
      </dsp:txBody>
      <dsp:txXfrm>
        <a:off x="1057183" y="3434221"/>
        <a:ext cx="4336177" cy="915310"/>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E7804C-76F7-4A57-840D-01350955AB40}" type="datetimeFigureOut">
              <a:rPr lang="en-US" smtClean="0"/>
              <a:t>11/20/2025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1E9996-D98F-4556-A63F-6075EF4550F9}" type="slidenum">
              <a:rPr lang="en-US" smtClean="0"/>
              <a:t>‹#›</a:t>
            </a:fld>
            <a:endParaRPr lang="en-US"/>
          </a:p>
        </p:txBody>
      </p:sp>
    </p:spTree>
    <p:extLst>
      <p:ext uri="{BB962C8B-B14F-4D97-AF65-F5344CB8AC3E}">
        <p14:creationId xmlns:p14="http://schemas.microsoft.com/office/powerpoint/2010/main" val="2927664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CURA offers 2 modes of operation:</a:t>
            </a:r>
          </a:p>
          <a:p>
            <a:endParaRPr lang="en-US" dirty="0"/>
          </a:p>
          <a:p>
            <a:r>
              <a:rPr lang="en-US" u="sng" baseline="0" dirty="0"/>
              <a:t>Fall/health monitoring on:</a:t>
            </a:r>
          </a:p>
          <a:p>
            <a:endParaRPr lang="en-US" dirty="0"/>
          </a:p>
          <a:p>
            <a:pPr marL="171450" indent="-171450">
              <a:buFontTx/>
              <a:buChar char="-"/>
            </a:pPr>
            <a:r>
              <a:rPr lang="en-US" dirty="0"/>
              <a:t>All data is monitored continuously and if data is out of a specified range a help request response is trigged and emergency contact is alerted. </a:t>
            </a:r>
          </a:p>
          <a:p>
            <a:pPr marL="171450" indent="-171450">
              <a:buFontTx/>
              <a:buChar cha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u="sng" baseline="0" dirty="0"/>
              <a:t>Fall/health monitoring off:</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u="sng"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u="none" baseline="0" dirty="0"/>
              <a:t>- All data is monitored continuously but no help request response activated. </a:t>
            </a:r>
          </a:p>
          <a:p>
            <a:pPr marL="0" indent="0">
              <a:buFontTx/>
              <a:buNone/>
            </a:pPr>
            <a:endParaRPr lang="en-US" dirty="0"/>
          </a:p>
          <a:p>
            <a:pPr marL="0" indent="0">
              <a:buFontTx/>
              <a:buNone/>
            </a:pPr>
            <a:endParaRPr lang="en-US" dirty="0"/>
          </a:p>
        </p:txBody>
      </p:sp>
      <p:sp>
        <p:nvSpPr>
          <p:cNvPr id="4" name="Slide Number Placeholder 3"/>
          <p:cNvSpPr>
            <a:spLocks noGrp="1"/>
          </p:cNvSpPr>
          <p:nvPr>
            <p:ph type="sldNum" sz="quarter" idx="5"/>
          </p:nvPr>
        </p:nvSpPr>
        <p:spPr/>
        <p:txBody>
          <a:bodyPr/>
          <a:lstStyle/>
          <a:p>
            <a:fld id="{8A1E9996-D98F-4556-A63F-6075EF4550F9}" type="slidenum">
              <a:rPr lang="en-US" smtClean="0"/>
              <a:t>4</a:t>
            </a:fld>
            <a:endParaRPr lang="en-US"/>
          </a:p>
        </p:txBody>
      </p:sp>
    </p:spTree>
    <p:extLst>
      <p:ext uri="{BB962C8B-B14F-4D97-AF65-F5344CB8AC3E}">
        <p14:creationId xmlns:p14="http://schemas.microsoft.com/office/powerpoint/2010/main" val="757235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Reasonings and benefits of voice activated help commands:</a:t>
            </a:r>
          </a:p>
          <a:p>
            <a:endParaRPr lang="en-US" b="1" dirty="0"/>
          </a:p>
          <a:p>
            <a:r>
              <a:rPr lang="en-US" b="1" dirty="0"/>
              <a:t>Hands-free emergency access</a:t>
            </a:r>
            <a:r>
              <a:rPr lang="en-US" dirty="0"/>
              <a:t> — Seniors can use CURA to call for help even if they are unable to press a button due to injury, weakness, or limited mobility.</a:t>
            </a:r>
          </a:p>
          <a:p>
            <a:endParaRPr lang="en-US" dirty="0"/>
          </a:p>
          <a:p>
            <a:r>
              <a:rPr lang="en-US" b="1" dirty="0"/>
              <a:t>Higher likelihood of use</a:t>
            </a:r>
            <a:r>
              <a:rPr lang="en-US" dirty="0"/>
              <a:t> — Seniors may feel more confident knowing help is accessible simply by speaking. </a:t>
            </a:r>
          </a:p>
          <a:p>
            <a:endParaRPr lang="en-US" dirty="0"/>
          </a:p>
          <a:p>
            <a:r>
              <a:rPr lang="en-US" b="1" dirty="0"/>
              <a:t>Useful during disorientation</a:t>
            </a:r>
            <a:r>
              <a:rPr lang="en-US" dirty="0"/>
              <a:t> — If a senior becomes dizzy, confused, or temporarily unable to navigate menus or buttons, voice commands still work.</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Encourages adoption of safety technology</a:t>
            </a:r>
            <a:r>
              <a:rPr lang="en-US" dirty="0"/>
              <a:t> — CURA provides a simpler interface with only one phrase required in emergency situations. Helps seniors view wearable safety devices as less intimidating and more appealing.</a:t>
            </a:r>
          </a:p>
          <a:p>
            <a:endParaRPr lang="en-US" dirty="0"/>
          </a:p>
          <a:p>
            <a:r>
              <a:rPr lang="en-US" b="1" dirty="0"/>
              <a:t>Reduces fear of being alone</a:t>
            </a:r>
            <a:r>
              <a:rPr lang="en-US" dirty="0"/>
              <a:t> — CURA Provides peace of mind to both seniors and caregivers by ensuring help is always a spoken command away.</a:t>
            </a:r>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8A1E9996-D98F-4556-A63F-6075EF4550F9}" type="slidenum">
              <a:rPr lang="en-US" smtClean="0"/>
              <a:t>6</a:t>
            </a:fld>
            <a:endParaRPr lang="en-US"/>
          </a:p>
        </p:txBody>
      </p:sp>
    </p:spTree>
    <p:extLst>
      <p:ext uri="{BB962C8B-B14F-4D97-AF65-F5344CB8AC3E}">
        <p14:creationId xmlns:p14="http://schemas.microsoft.com/office/powerpoint/2010/main" val="34318823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CURA provides instant access to help with a single touch, reducing delay during emergencies.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With CURA communication is simplified for seniors who may struggle with smartphones or voice commands.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Independence is increased, allowing seniors to live confidently without constant supervision.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With CURA’s simple and easy to read help request button, emergency access is still available even in cases where speech is impaired.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Once the help request button is pressed the users preferred family member or emergency contact is alerted immediately. </a:t>
            </a:r>
          </a:p>
          <a:p>
            <a:endParaRPr lang="en-US" dirty="0"/>
          </a:p>
        </p:txBody>
      </p:sp>
      <p:sp>
        <p:nvSpPr>
          <p:cNvPr id="4" name="Slide Number Placeholder 3"/>
          <p:cNvSpPr>
            <a:spLocks noGrp="1"/>
          </p:cNvSpPr>
          <p:nvPr>
            <p:ph type="sldNum" sz="quarter" idx="5"/>
          </p:nvPr>
        </p:nvSpPr>
        <p:spPr/>
        <p:txBody>
          <a:bodyPr/>
          <a:lstStyle/>
          <a:p>
            <a:fld id="{8A1E9996-D98F-4556-A63F-6075EF4550F9}" type="slidenum">
              <a:rPr lang="en-US" smtClean="0"/>
              <a:t>8</a:t>
            </a:fld>
            <a:endParaRPr lang="en-US"/>
          </a:p>
        </p:txBody>
      </p:sp>
    </p:spTree>
    <p:extLst>
      <p:ext uri="{BB962C8B-B14F-4D97-AF65-F5344CB8AC3E}">
        <p14:creationId xmlns:p14="http://schemas.microsoft.com/office/powerpoint/2010/main" val="21550723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Reasonings and Benefits of health monitoring on CURA device:</a:t>
            </a:r>
          </a:p>
          <a:p>
            <a:endParaRPr lang="en-US" b="1" dirty="0"/>
          </a:p>
          <a:p>
            <a:r>
              <a:rPr lang="en-US" b="1" dirty="0"/>
              <a:t>CURA has several health monitoring sensors on board, </a:t>
            </a:r>
            <a:r>
              <a:rPr lang="en-US" b="0" i="0" baseline="0" dirty="0"/>
              <a:t>specifically saturation of peripheral oxygen known as SPO2 used to detect low oxygen levels early, Temperature sensing for quick identification of abnormal temp changes and heart rate sensing for continuous cardiovascular insight. </a:t>
            </a:r>
          </a:p>
          <a:p>
            <a:endParaRPr lang="en-US" b="1" dirty="0"/>
          </a:p>
          <a:p>
            <a:r>
              <a:rPr lang="en-US" b="1" dirty="0"/>
              <a:t>CURA provides Early detection of health issues</a:t>
            </a:r>
            <a:r>
              <a:rPr lang="en-US" dirty="0"/>
              <a:t>  through continuous monitoring that can help identify abnormal trends such as fever, irregular heart rate, or low oxygen levels before they become serious.</a:t>
            </a:r>
          </a:p>
          <a:p>
            <a:endParaRPr lang="en-US" dirty="0"/>
          </a:p>
          <a:p>
            <a:r>
              <a:rPr lang="en-US" b="1" dirty="0"/>
              <a:t>CURA also supports chronic condition management</a:t>
            </a:r>
            <a:r>
              <a:rPr lang="en-US" dirty="0"/>
              <a:t> of conditions such as heart disease, COPD, asthma, or circulation issues by providing ongoing insight into the user's health status.</a:t>
            </a:r>
          </a:p>
          <a:p>
            <a:endParaRPr lang="en-US" dirty="0"/>
          </a:p>
          <a:p>
            <a:r>
              <a:rPr lang="en-US" b="1" dirty="0"/>
              <a:t>CURA is non-invasive and comfortable</a:t>
            </a:r>
            <a:r>
              <a:rPr lang="en-US" dirty="0"/>
              <a:t> providing essential health information without needles, wires, or clinic visits.</a:t>
            </a:r>
          </a:p>
          <a:p>
            <a:endParaRPr lang="en-US" dirty="0"/>
          </a:p>
          <a:p>
            <a:r>
              <a:rPr lang="en-US" dirty="0"/>
              <a:t>When sensor levels are out of range emergency services are contacted immediately. </a:t>
            </a:r>
          </a:p>
          <a:p>
            <a:endParaRPr lang="en-US" dirty="0"/>
          </a:p>
          <a:p>
            <a:endParaRPr lang="en-US" dirty="0"/>
          </a:p>
        </p:txBody>
      </p:sp>
      <p:sp>
        <p:nvSpPr>
          <p:cNvPr id="4" name="Slide Number Placeholder 3"/>
          <p:cNvSpPr>
            <a:spLocks noGrp="1"/>
          </p:cNvSpPr>
          <p:nvPr>
            <p:ph type="sldNum" sz="quarter" idx="5"/>
          </p:nvPr>
        </p:nvSpPr>
        <p:spPr/>
        <p:txBody>
          <a:bodyPr/>
          <a:lstStyle/>
          <a:p>
            <a:fld id="{8A1E9996-D98F-4556-A63F-6075EF4550F9}" type="slidenum">
              <a:rPr lang="en-US" smtClean="0"/>
              <a:t>10</a:t>
            </a:fld>
            <a:endParaRPr lang="en-US"/>
          </a:p>
        </p:txBody>
      </p:sp>
    </p:spTree>
    <p:extLst>
      <p:ext uri="{BB962C8B-B14F-4D97-AF65-F5344CB8AC3E}">
        <p14:creationId xmlns:p14="http://schemas.microsoft.com/office/powerpoint/2010/main" val="11247676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373C9-3C35-AD94-ED23-0B61364CFC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B032788-BE05-745D-BED2-76DDB1AB93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ACB2217-A9F7-A6ED-7B8D-7A2F3845B4BC}"/>
              </a:ext>
            </a:extLst>
          </p:cNvPr>
          <p:cNvSpPr>
            <a:spLocks noGrp="1"/>
          </p:cNvSpPr>
          <p:nvPr>
            <p:ph type="dt" sz="half" idx="10"/>
          </p:nvPr>
        </p:nvSpPr>
        <p:spPr/>
        <p:txBody>
          <a:bodyPr/>
          <a:lstStyle/>
          <a:p>
            <a:fld id="{3889E63E-9058-4A47-B7CA-18D8004A5AE8}" type="datetimeFigureOut">
              <a:rPr lang="en-US" smtClean="0"/>
              <a:t>11/20/2025</a:t>
            </a:fld>
            <a:endParaRPr lang="en-US"/>
          </a:p>
        </p:txBody>
      </p:sp>
      <p:sp>
        <p:nvSpPr>
          <p:cNvPr id="5" name="Footer Placeholder 4">
            <a:extLst>
              <a:ext uri="{FF2B5EF4-FFF2-40B4-BE49-F238E27FC236}">
                <a16:creationId xmlns:a16="http://schemas.microsoft.com/office/drawing/2014/main" id="{BB8CBBA9-4A9F-62D6-CFB3-F63A17111F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D1EDF-5EB4-1C91-D65D-271E561B6975}"/>
              </a:ext>
            </a:extLst>
          </p:cNvPr>
          <p:cNvSpPr>
            <a:spLocks noGrp="1"/>
          </p:cNvSpPr>
          <p:nvPr>
            <p:ph type="sldNum" sz="quarter" idx="12"/>
          </p:nvPr>
        </p:nvSpPr>
        <p:spPr/>
        <p:txBody>
          <a:bodyPr/>
          <a:lstStyle/>
          <a:p>
            <a:fld id="{A6C6F43E-38C0-4562-8F46-9732D08C4AFC}" type="slidenum">
              <a:rPr lang="en-US" smtClean="0"/>
              <a:t>‹#›</a:t>
            </a:fld>
            <a:endParaRPr lang="en-US"/>
          </a:p>
        </p:txBody>
      </p:sp>
    </p:spTree>
    <p:extLst>
      <p:ext uri="{BB962C8B-B14F-4D97-AF65-F5344CB8AC3E}">
        <p14:creationId xmlns:p14="http://schemas.microsoft.com/office/powerpoint/2010/main" val="2087106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3CA71-D32D-5482-4D48-F97E164BE0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283B46-D204-1262-1371-B5E17BF193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4E7D51-F686-D550-DC42-A7827CD5C689}"/>
              </a:ext>
            </a:extLst>
          </p:cNvPr>
          <p:cNvSpPr>
            <a:spLocks noGrp="1"/>
          </p:cNvSpPr>
          <p:nvPr>
            <p:ph type="dt" sz="half" idx="10"/>
          </p:nvPr>
        </p:nvSpPr>
        <p:spPr/>
        <p:txBody>
          <a:bodyPr/>
          <a:lstStyle/>
          <a:p>
            <a:fld id="{3889E63E-9058-4A47-B7CA-18D8004A5AE8}" type="datetimeFigureOut">
              <a:rPr lang="en-US" smtClean="0"/>
              <a:t>11/20/2025</a:t>
            </a:fld>
            <a:endParaRPr lang="en-US"/>
          </a:p>
        </p:txBody>
      </p:sp>
      <p:sp>
        <p:nvSpPr>
          <p:cNvPr id="5" name="Footer Placeholder 4">
            <a:extLst>
              <a:ext uri="{FF2B5EF4-FFF2-40B4-BE49-F238E27FC236}">
                <a16:creationId xmlns:a16="http://schemas.microsoft.com/office/drawing/2014/main" id="{BF844BEB-867F-7FA1-ED2C-0370762D38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0B6F50-D302-11E7-A8B2-247A2766331F}"/>
              </a:ext>
            </a:extLst>
          </p:cNvPr>
          <p:cNvSpPr>
            <a:spLocks noGrp="1"/>
          </p:cNvSpPr>
          <p:nvPr>
            <p:ph type="sldNum" sz="quarter" idx="12"/>
          </p:nvPr>
        </p:nvSpPr>
        <p:spPr/>
        <p:txBody>
          <a:bodyPr/>
          <a:lstStyle/>
          <a:p>
            <a:fld id="{A6C6F43E-38C0-4562-8F46-9732D08C4AFC}" type="slidenum">
              <a:rPr lang="en-US" smtClean="0"/>
              <a:t>‹#›</a:t>
            </a:fld>
            <a:endParaRPr lang="en-US"/>
          </a:p>
        </p:txBody>
      </p:sp>
    </p:spTree>
    <p:extLst>
      <p:ext uri="{BB962C8B-B14F-4D97-AF65-F5344CB8AC3E}">
        <p14:creationId xmlns:p14="http://schemas.microsoft.com/office/powerpoint/2010/main" val="180030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68842-E277-0060-6CF3-14E5BBA349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ACDF5F9-2E20-1460-99FC-8718E421673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162548-9B05-A07E-713A-04B87D3F9EB1}"/>
              </a:ext>
            </a:extLst>
          </p:cNvPr>
          <p:cNvSpPr>
            <a:spLocks noGrp="1"/>
          </p:cNvSpPr>
          <p:nvPr>
            <p:ph type="dt" sz="half" idx="10"/>
          </p:nvPr>
        </p:nvSpPr>
        <p:spPr/>
        <p:txBody>
          <a:bodyPr/>
          <a:lstStyle/>
          <a:p>
            <a:fld id="{3889E63E-9058-4A47-B7CA-18D8004A5AE8}" type="datetimeFigureOut">
              <a:rPr lang="en-US" smtClean="0"/>
              <a:t>11/20/2025</a:t>
            </a:fld>
            <a:endParaRPr lang="en-US"/>
          </a:p>
        </p:txBody>
      </p:sp>
      <p:sp>
        <p:nvSpPr>
          <p:cNvPr id="5" name="Footer Placeholder 4">
            <a:extLst>
              <a:ext uri="{FF2B5EF4-FFF2-40B4-BE49-F238E27FC236}">
                <a16:creationId xmlns:a16="http://schemas.microsoft.com/office/drawing/2014/main" id="{3292FF23-730A-3F4C-73DE-35DB9AA653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3DC6CB-2E18-4A41-126B-C850F9E14709}"/>
              </a:ext>
            </a:extLst>
          </p:cNvPr>
          <p:cNvSpPr>
            <a:spLocks noGrp="1"/>
          </p:cNvSpPr>
          <p:nvPr>
            <p:ph type="sldNum" sz="quarter" idx="12"/>
          </p:nvPr>
        </p:nvSpPr>
        <p:spPr/>
        <p:txBody>
          <a:bodyPr/>
          <a:lstStyle/>
          <a:p>
            <a:fld id="{A6C6F43E-38C0-4562-8F46-9732D08C4AFC}" type="slidenum">
              <a:rPr lang="en-US" smtClean="0"/>
              <a:t>‹#›</a:t>
            </a:fld>
            <a:endParaRPr lang="en-US"/>
          </a:p>
        </p:txBody>
      </p:sp>
    </p:spTree>
    <p:extLst>
      <p:ext uri="{BB962C8B-B14F-4D97-AF65-F5344CB8AC3E}">
        <p14:creationId xmlns:p14="http://schemas.microsoft.com/office/powerpoint/2010/main" val="3197786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31814-366B-D2DD-E011-8A1C65157A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C35F55-D635-7C30-0FDF-E10505644B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2091303-A5F5-5041-C66E-81EA253759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EED305B-63CF-56A0-74F7-CA1B6BA14AB8}"/>
              </a:ext>
            </a:extLst>
          </p:cNvPr>
          <p:cNvSpPr>
            <a:spLocks noGrp="1"/>
          </p:cNvSpPr>
          <p:nvPr>
            <p:ph type="dt" sz="half" idx="10"/>
          </p:nvPr>
        </p:nvSpPr>
        <p:spPr/>
        <p:txBody>
          <a:bodyPr/>
          <a:lstStyle/>
          <a:p>
            <a:fld id="{3889E63E-9058-4A47-B7CA-18D8004A5AE8}" type="datetimeFigureOut">
              <a:rPr lang="en-US" smtClean="0"/>
              <a:t>11/20/2025</a:t>
            </a:fld>
            <a:endParaRPr lang="en-US"/>
          </a:p>
        </p:txBody>
      </p:sp>
      <p:sp>
        <p:nvSpPr>
          <p:cNvPr id="6" name="Footer Placeholder 5">
            <a:extLst>
              <a:ext uri="{FF2B5EF4-FFF2-40B4-BE49-F238E27FC236}">
                <a16:creationId xmlns:a16="http://schemas.microsoft.com/office/drawing/2014/main" id="{F2A92F66-2009-A472-2DC8-B1B203DDE4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994F58-6C28-B4B4-2736-98A363E143EE}"/>
              </a:ext>
            </a:extLst>
          </p:cNvPr>
          <p:cNvSpPr>
            <a:spLocks noGrp="1"/>
          </p:cNvSpPr>
          <p:nvPr>
            <p:ph type="sldNum" sz="quarter" idx="12"/>
          </p:nvPr>
        </p:nvSpPr>
        <p:spPr/>
        <p:txBody>
          <a:bodyPr/>
          <a:lstStyle/>
          <a:p>
            <a:fld id="{A6C6F43E-38C0-4562-8F46-9732D08C4AFC}" type="slidenum">
              <a:rPr lang="en-US" smtClean="0"/>
              <a:t>‹#›</a:t>
            </a:fld>
            <a:endParaRPr lang="en-US"/>
          </a:p>
        </p:txBody>
      </p:sp>
    </p:spTree>
    <p:extLst>
      <p:ext uri="{BB962C8B-B14F-4D97-AF65-F5344CB8AC3E}">
        <p14:creationId xmlns:p14="http://schemas.microsoft.com/office/powerpoint/2010/main" val="3933230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72A27-0DB7-1017-9B79-87EE6124F20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D483D00-4B91-DE10-9417-4432A53425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23FDB2-F2A0-B134-5E4D-482F77D7544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1566A8F-7236-D487-60DC-3768841EED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B59F2C-9B76-8794-F572-179313AF87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DAB2D1E-A45E-17F7-9C76-716A23DF740F}"/>
              </a:ext>
            </a:extLst>
          </p:cNvPr>
          <p:cNvSpPr>
            <a:spLocks noGrp="1"/>
          </p:cNvSpPr>
          <p:nvPr>
            <p:ph type="dt" sz="half" idx="10"/>
          </p:nvPr>
        </p:nvSpPr>
        <p:spPr/>
        <p:txBody>
          <a:bodyPr/>
          <a:lstStyle/>
          <a:p>
            <a:fld id="{3889E63E-9058-4A47-B7CA-18D8004A5AE8}" type="datetimeFigureOut">
              <a:rPr lang="en-US" smtClean="0"/>
              <a:t>11/20/2025</a:t>
            </a:fld>
            <a:endParaRPr lang="en-US"/>
          </a:p>
        </p:txBody>
      </p:sp>
      <p:sp>
        <p:nvSpPr>
          <p:cNvPr id="8" name="Footer Placeholder 7">
            <a:extLst>
              <a:ext uri="{FF2B5EF4-FFF2-40B4-BE49-F238E27FC236}">
                <a16:creationId xmlns:a16="http://schemas.microsoft.com/office/drawing/2014/main" id="{5B6AF6B8-B94D-4583-66C3-7019A49FDFD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3A678A2-B410-F6E3-42A8-7E2EBED8E58D}"/>
              </a:ext>
            </a:extLst>
          </p:cNvPr>
          <p:cNvSpPr>
            <a:spLocks noGrp="1"/>
          </p:cNvSpPr>
          <p:nvPr>
            <p:ph type="sldNum" sz="quarter" idx="12"/>
          </p:nvPr>
        </p:nvSpPr>
        <p:spPr/>
        <p:txBody>
          <a:bodyPr/>
          <a:lstStyle/>
          <a:p>
            <a:fld id="{A6C6F43E-38C0-4562-8F46-9732D08C4AFC}" type="slidenum">
              <a:rPr lang="en-US" smtClean="0"/>
              <a:t>‹#›</a:t>
            </a:fld>
            <a:endParaRPr lang="en-US"/>
          </a:p>
        </p:txBody>
      </p:sp>
    </p:spTree>
    <p:extLst>
      <p:ext uri="{BB962C8B-B14F-4D97-AF65-F5344CB8AC3E}">
        <p14:creationId xmlns:p14="http://schemas.microsoft.com/office/powerpoint/2010/main" val="3622245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9A428-4384-956F-BB3F-6BAB2F67FE5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9DD439-9439-6AD8-87E7-CBF48CFDAF52}"/>
              </a:ext>
            </a:extLst>
          </p:cNvPr>
          <p:cNvSpPr>
            <a:spLocks noGrp="1"/>
          </p:cNvSpPr>
          <p:nvPr>
            <p:ph type="dt" sz="half" idx="10"/>
          </p:nvPr>
        </p:nvSpPr>
        <p:spPr/>
        <p:txBody>
          <a:bodyPr/>
          <a:lstStyle/>
          <a:p>
            <a:fld id="{3889E63E-9058-4A47-B7CA-18D8004A5AE8}" type="datetimeFigureOut">
              <a:rPr lang="en-US" smtClean="0"/>
              <a:t>11/20/2025</a:t>
            </a:fld>
            <a:endParaRPr lang="en-US"/>
          </a:p>
        </p:txBody>
      </p:sp>
      <p:sp>
        <p:nvSpPr>
          <p:cNvPr id="4" name="Footer Placeholder 3">
            <a:extLst>
              <a:ext uri="{FF2B5EF4-FFF2-40B4-BE49-F238E27FC236}">
                <a16:creationId xmlns:a16="http://schemas.microsoft.com/office/drawing/2014/main" id="{9EDA25ED-7C5E-38C2-3316-6264BC15E5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54906F6-ED7B-6A86-A12D-2B278E5641FD}"/>
              </a:ext>
            </a:extLst>
          </p:cNvPr>
          <p:cNvSpPr>
            <a:spLocks noGrp="1"/>
          </p:cNvSpPr>
          <p:nvPr>
            <p:ph type="sldNum" sz="quarter" idx="12"/>
          </p:nvPr>
        </p:nvSpPr>
        <p:spPr/>
        <p:txBody>
          <a:bodyPr/>
          <a:lstStyle/>
          <a:p>
            <a:fld id="{A6C6F43E-38C0-4562-8F46-9732D08C4AFC}" type="slidenum">
              <a:rPr lang="en-US" smtClean="0"/>
              <a:t>‹#›</a:t>
            </a:fld>
            <a:endParaRPr lang="en-US"/>
          </a:p>
        </p:txBody>
      </p:sp>
    </p:spTree>
    <p:extLst>
      <p:ext uri="{BB962C8B-B14F-4D97-AF65-F5344CB8AC3E}">
        <p14:creationId xmlns:p14="http://schemas.microsoft.com/office/powerpoint/2010/main" val="1586883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2C7D3C-FCA9-E22B-85EF-F84D085A1E07}"/>
              </a:ext>
            </a:extLst>
          </p:cNvPr>
          <p:cNvSpPr>
            <a:spLocks noGrp="1"/>
          </p:cNvSpPr>
          <p:nvPr>
            <p:ph type="dt" sz="half" idx="10"/>
          </p:nvPr>
        </p:nvSpPr>
        <p:spPr/>
        <p:txBody>
          <a:bodyPr/>
          <a:lstStyle/>
          <a:p>
            <a:fld id="{3889E63E-9058-4A47-B7CA-18D8004A5AE8}" type="datetimeFigureOut">
              <a:rPr lang="en-US" smtClean="0"/>
              <a:t>11/20/2025</a:t>
            </a:fld>
            <a:endParaRPr lang="en-US"/>
          </a:p>
        </p:txBody>
      </p:sp>
      <p:sp>
        <p:nvSpPr>
          <p:cNvPr id="3" name="Footer Placeholder 2">
            <a:extLst>
              <a:ext uri="{FF2B5EF4-FFF2-40B4-BE49-F238E27FC236}">
                <a16:creationId xmlns:a16="http://schemas.microsoft.com/office/drawing/2014/main" id="{2A9E4E50-AF8E-D6C5-2861-19D20885A68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8450A24-FC34-25A4-1676-CA3CFC682C1E}"/>
              </a:ext>
            </a:extLst>
          </p:cNvPr>
          <p:cNvSpPr>
            <a:spLocks noGrp="1"/>
          </p:cNvSpPr>
          <p:nvPr>
            <p:ph type="sldNum" sz="quarter" idx="12"/>
          </p:nvPr>
        </p:nvSpPr>
        <p:spPr/>
        <p:txBody>
          <a:bodyPr/>
          <a:lstStyle/>
          <a:p>
            <a:fld id="{A6C6F43E-38C0-4562-8F46-9732D08C4AFC}" type="slidenum">
              <a:rPr lang="en-US" smtClean="0"/>
              <a:t>‹#›</a:t>
            </a:fld>
            <a:endParaRPr lang="en-US"/>
          </a:p>
        </p:txBody>
      </p:sp>
    </p:spTree>
    <p:extLst>
      <p:ext uri="{BB962C8B-B14F-4D97-AF65-F5344CB8AC3E}">
        <p14:creationId xmlns:p14="http://schemas.microsoft.com/office/powerpoint/2010/main" val="3349411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2B429-A1D0-F8F1-56CD-0528BBAC92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3B0B36F-338D-1213-A2AD-5ED5B80169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FB0CA8D-5015-A04D-DC84-400E4A27EA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937DFA-AA8E-07B9-8A6B-FCECCFF7A8B3}"/>
              </a:ext>
            </a:extLst>
          </p:cNvPr>
          <p:cNvSpPr>
            <a:spLocks noGrp="1"/>
          </p:cNvSpPr>
          <p:nvPr>
            <p:ph type="dt" sz="half" idx="10"/>
          </p:nvPr>
        </p:nvSpPr>
        <p:spPr/>
        <p:txBody>
          <a:bodyPr/>
          <a:lstStyle/>
          <a:p>
            <a:fld id="{3889E63E-9058-4A47-B7CA-18D8004A5AE8}" type="datetimeFigureOut">
              <a:rPr lang="en-US" smtClean="0"/>
              <a:t>11/20/2025</a:t>
            </a:fld>
            <a:endParaRPr lang="en-US"/>
          </a:p>
        </p:txBody>
      </p:sp>
      <p:sp>
        <p:nvSpPr>
          <p:cNvPr id="6" name="Footer Placeholder 5">
            <a:extLst>
              <a:ext uri="{FF2B5EF4-FFF2-40B4-BE49-F238E27FC236}">
                <a16:creationId xmlns:a16="http://schemas.microsoft.com/office/drawing/2014/main" id="{B64CF4CA-5C89-AEFC-6722-02EEB9A29E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19FE96-B980-D565-8B96-7B52FD80544A}"/>
              </a:ext>
            </a:extLst>
          </p:cNvPr>
          <p:cNvSpPr>
            <a:spLocks noGrp="1"/>
          </p:cNvSpPr>
          <p:nvPr>
            <p:ph type="sldNum" sz="quarter" idx="12"/>
          </p:nvPr>
        </p:nvSpPr>
        <p:spPr/>
        <p:txBody>
          <a:bodyPr/>
          <a:lstStyle/>
          <a:p>
            <a:fld id="{A6C6F43E-38C0-4562-8F46-9732D08C4AFC}" type="slidenum">
              <a:rPr lang="en-US" smtClean="0"/>
              <a:t>‹#›</a:t>
            </a:fld>
            <a:endParaRPr lang="en-US"/>
          </a:p>
        </p:txBody>
      </p:sp>
    </p:spTree>
    <p:extLst>
      <p:ext uri="{BB962C8B-B14F-4D97-AF65-F5344CB8AC3E}">
        <p14:creationId xmlns:p14="http://schemas.microsoft.com/office/powerpoint/2010/main" val="132952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47632-1187-49A2-AEC3-4F4E540B32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5ECABC-5213-0269-1D7F-E740DEF9E6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1DB84D3-6CAE-F442-A626-F222443A57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623144-EED2-95C0-0300-EE86DD4ADE4E}"/>
              </a:ext>
            </a:extLst>
          </p:cNvPr>
          <p:cNvSpPr>
            <a:spLocks noGrp="1"/>
          </p:cNvSpPr>
          <p:nvPr>
            <p:ph type="dt" sz="half" idx="10"/>
          </p:nvPr>
        </p:nvSpPr>
        <p:spPr/>
        <p:txBody>
          <a:bodyPr/>
          <a:lstStyle/>
          <a:p>
            <a:fld id="{3889E63E-9058-4A47-B7CA-18D8004A5AE8}" type="datetimeFigureOut">
              <a:rPr lang="en-US" smtClean="0"/>
              <a:t>11/20/2025</a:t>
            </a:fld>
            <a:endParaRPr lang="en-US"/>
          </a:p>
        </p:txBody>
      </p:sp>
      <p:sp>
        <p:nvSpPr>
          <p:cNvPr id="6" name="Footer Placeholder 5">
            <a:extLst>
              <a:ext uri="{FF2B5EF4-FFF2-40B4-BE49-F238E27FC236}">
                <a16:creationId xmlns:a16="http://schemas.microsoft.com/office/drawing/2014/main" id="{1532C166-00D0-CB5A-CE94-5DCB915F13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B26C6B-F51D-7A6B-A5D0-7CDDE339B521}"/>
              </a:ext>
            </a:extLst>
          </p:cNvPr>
          <p:cNvSpPr>
            <a:spLocks noGrp="1"/>
          </p:cNvSpPr>
          <p:nvPr>
            <p:ph type="sldNum" sz="quarter" idx="12"/>
          </p:nvPr>
        </p:nvSpPr>
        <p:spPr/>
        <p:txBody>
          <a:bodyPr/>
          <a:lstStyle/>
          <a:p>
            <a:fld id="{A6C6F43E-38C0-4562-8F46-9732D08C4AFC}" type="slidenum">
              <a:rPr lang="en-US" smtClean="0"/>
              <a:t>‹#›</a:t>
            </a:fld>
            <a:endParaRPr lang="en-US"/>
          </a:p>
        </p:txBody>
      </p:sp>
    </p:spTree>
    <p:extLst>
      <p:ext uri="{BB962C8B-B14F-4D97-AF65-F5344CB8AC3E}">
        <p14:creationId xmlns:p14="http://schemas.microsoft.com/office/powerpoint/2010/main" val="1554188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7A4FE-9D87-14EA-BC1D-7F8101D5E67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9C172B6-AF83-014F-EA60-1ABACB5342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AD70ED-6662-698B-8CF0-6F8B55A456C6}"/>
              </a:ext>
            </a:extLst>
          </p:cNvPr>
          <p:cNvSpPr>
            <a:spLocks noGrp="1"/>
          </p:cNvSpPr>
          <p:nvPr>
            <p:ph type="dt" sz="half" idx="10"/>
          </p:nvPr>
        </p:nvSpPr>
        <p:spPr/>
        <p:txBody>
          <a:bodyPr/>
          <a:lstStyle/>
          <a:p>
            <a:fld id="{3889E63E-9058-4A47-B7CA-18D8004A5AE8}" type="datetimeFigureOut">
              <a:rPr lang="en-US" smtClean="0"/>
              <a:t>11/20/2025</a:t>
            </a:fld>
            <a:endParaRPr lang="en-US"/>
          </a:p>
        </p:txBody>
      </p:sp>
      <p:sp>
        <p:nvSpPr>
          <p:cNvPr id="5" name="Footer Placeholder 4">
            <a:extLst>
              <a:ext uri="{FF2B5EF4-FFF2-40B4-BE49-F238E27FC236}">
                <a16:creationId xmlns:a16="http://schemas.microsoft.com/office/drawing/2014/main" id="{8D23461F-877F-4981-4764-62506D73F0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FA675A-1CF0-91F2-48CC-A27B859E9B67}"/>
              </a:ext>
            </a:extLst>
          </p:cNvPr>
          <p:cNvSpPr>
            <a:spLocks noGrp="1"/>
          </p:cNvSpPr>
          <p:nvPr>
            <p:ph type="sldNum" sz="quarter" idx="12"/>
          </p:nvPr>
        </p:nvSpPr>
        <p:spPr/>
        <p:txBody>
          <a:bodyPr/>
          <a:lstStyle/>
          <a:p>
            <a:fld id="{A6C6F43E-38C0-4562-8F46-9732D08C4AFC}" type="slidenum">
              <a:rPr lang="en-US" smtClean="0"/>
              <a:t>‹#›</a:t>
            </a:fld>
            <a:endParaRPr lang="en-US"/>
          </a:p>
        </p:txBody>
      </p:sp>
    </p:spTree>
    <p:extLst>
      <p:ext uri="{BB962C8B-B14F-4D97-AF65-F5344CB8AC3E}">
        <p14:creationId xmlns:p14="http://schemas.microsoft.com/office/powerpoint/2010/main" val="3467717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6DC59B-53EA-898C-6517-98DEF3CC791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CCAD2C3-42F7-DA3B-48D5-899CE1D4E4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868DDA-58FE-2E44-205E-29AD28DE2C2E}"/>
              </a:ext>
            </a:extLst>
          </p:cNvPr>
          <p:cNvSpPr>
            <a:spLocks noGrp="1"/>
          </p:cNvSpPr>
          <p:nvPr>
            <p:ph type="dt" sz="half" idx="10"/>
          </p:nvPr>
        </p:nvSpPr>
        <p:spPr/>
        <p:txBody>
          <a:bodyPr/>
          <a:lstStyle/>
          <a:p>
            <a:fld id="{3889E63E-9058-4A47-B7CA-18D8004A5AE8}" type="datetimeFigureOut">
              <a:rPr lang="en-US" smtClean="0"/>
              <a:t>11/20/2025</a:t>
            </a:fld>
            <a:endParaRPr lang="en-US"/>
          </a:p>
        </p:txBody>
      </p:sp>
      <p:sp>
        <p:nvSpPr>
          <p:cNvPr id="5" name="Footer Placeholder 4">
            <a:extLst>
              <a:ext uri="{FF2B5EF4-FFF2-40B4-BE49-F238E27FC236}">
                <a16:creationId xmlns:a16="http://schemas.microsoft.com/office/drawing/2014/main" id="{3E32E7E4-D81D-7BD2-9C79-ADA6C1406B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ADCC59-9AF7-1BE8-153B-69097C318786}"/>
              </a:ext>
            </a:extLst>
          </p:cNvPr>
          <p:cNvSpPr>
            <a:spLocks noGrp="1"/>
          </p:cNvSpPr>
          <p:nvPr>
            <p:ph type="sldNum" sz="quarter" idx="12"/>
          </p:nvPr>
        </p:nvSpPr>
        <p:spPr/>
        <p:txBody>
          <a:bodyPr/>
          <a:lstStyle/>
          <a:p>
            <a:fld id="{A6C6F43E-38C0-4562-8F46-9732D08C4AFC}" type="slidenum">
              <a:rPr lang="en-US" smtClean="0"/>
              <a:t>‹#›</a:t>
            </a:fld>
            <a:endParaRPr lang="en-US"/>
          </a:p>
        </p:txBody>
      </p:sp>
    </p:spTree>
    <p:extLst>
      <p:ext uri="{BB962C8B-B14F-4D97-AF65-F5344CB8AC3E}">
        <p14:creationId xmlns:p14="http://schemas.microsoft.com/office/powerpoint/2010/main" val="1008321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3FA51E-F148-A461-A652-62B88ABD8C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BD95A48-2B83-1811-70F1-5978397F91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BE3F30-D92A-BE69-AE70-7430761D41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889E63E-9058-4A47-B7CA-18D8004A5AE8}" type="datetimeFigureOut">
              <a:rPr lang="en-US" smtClean="0"/>
              <a:t>11/20/2025</a:t>
            </a:fld>
            <a:endParaRPr lang="en-US"/>
          </a:p>
        </p:txBody>
      </p:sp>
      <p:sp>
        <p:nvSpPr>
          <p:cNvPr id="5" name="Footer Placeholder 4">
            <a:extLst>
              <a:ext uri="{FF2B5EF4-FFF2-40B4-BE49-F238E27FC236}">
                <a16:creationId xmlns:a16="http://schemas.microsoft.com/office/drawing/2014/main" id="{C8FC2C05-B3E8-0F91-64DC-A214F07519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C2C05C7-3F70-9DAC-6D80-61BFCCF8E2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6C6F43E-38C0-4562-8F46-9732D08C4AFC}" type="slidenum">
              <a:rPr lang="en-US" smtClean="0"/>
              <a:t>‹#›</a:t>
            </a:fld>
            <a:endParaRPr lang="en-US"/>
          </a:p>
        </p:txBody>
      </p:sp>
    </p:spTree>
    <p:extLst>
      <p:ext uri="{BB962C8B-B14F-4D97-AF65-F5344CB8AC3E}">
        <p14:creationId xmlns:p14="http://schemas.microsoft.com/office/powerpoint/2010/main" val="42234868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3.png"/><Relationship Id="rId7" Type="http://schemas.openxmlformats.org/officeDocument/2006/relationships/diagramColors" Target="../diagrams/colors2.xml"/><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24.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8" Type="http://schemas.openxmlformats.org/officeDocument/2006/relationships/diagramQuickStyle" Target="../diagrams/quickStyle4.xml"/><Relationship Id="rId3" Type="http://schemas.openxmlformats.org/officeDocument/2006/relationships/image" Target="../media/image25.png"/><Relationship Id="rId7" Type="http://schemas.openxmlformats.org/officeDocument/2006/relationships/diagramLayout" Target="../diagrams/layout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Data" Target="../diagrams/data4.xml"/><Relationship Id="rId5" Type="http://schemas.openxmlformats.org/officeDocument/2006/relationships/image" Target="../media/image27.png"/><Relationship Id="rId10" Type="http://schemas.microsoft.com/office/2007/relationships/diagramDrawing" Target="../diagrams/drawing4.xml"/><Relationship Id="rId4" Type="http://schemas.openxmlformats.org/officeDocument/2006/relationships/image" Target="../media/image26.png"/><Relationship Id="rId9" Type="http://schemas.openxmlformats.org/officeDocument/2006/relationships/diagramColors" Target="../diagrams/colors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7F7C0-6D7B-EFEE-5BA4-A16BEE2B0F86}"/>
              </a:ext>
            </a:extLst>
          </p:cNvPr>
          <p:cNvSpPr>
            <a:spLocks noGrp="1"/>
          </p:cNvSpPr>
          <p:nvPr>
            <p:ph type="ctrTitle"/>
          </p:nvPr>
        </p:nvSpPr>
        <p:spPr/>
        <p:txBody>
          <a:bodyPr>
            <a:normAutofit fontScale="90000"/>
          </a:bodyPr>
          <a:lstStyle/>
          <a:p>
            <a:r>
              <a:rPr lang="en-US" dirty="0"/>
              <a:t>Senior Design Project</a:t>
            </a:r>
            <a:br>
              <a:rPr lang="en-US" dirty="0"/>
            </a:br>
            <a:r>
              <a:rPr lang="en-US" dirty="0"/>
              <a:t>Year Spring/Fall</a:t>
            </a:r>
            <a:br>
              <a:rPr lang="en-US" dirty="0"/>
            </a:br>
            <a:r>
              <a:rPr lang="en-US" i="1" dirty="0"/>
              <a:t>C.U.R.A</a:t>
            </a:r>
          </a:p>
        </p:txBody>
      </p:sp>
      <p:sp>
        <p:nvSpPr>
          <p:cNvPr id="3" name="Subtitle 2">
            <a:extLst>
              <a:ext uri="{FF2B5EF4-FFF2-40B4-BE49-F238E27FC236}">
                <a16:creationId xmlns:a16="http://schemas.microsoft.com/office/drawing/2014/main" id="{251A1B52-BDC5-EEBA-0598-688DE9154996}"/>
              </a:ext>
            </a:extLst>
          </p:cNvPr>
          <p:cNvSpPr>
            <a:spLocks noGrp="1"/>
          </p:cNvSpPr>
          <p:nvPr>
            <p:ph type="subTitle" idx="1"/>
          </p:nvPr>
        </p:nvSpPr>
        <p:spPr>
          <a:xfrm>
            <a:off x="1524001" y="3711504"/>
            <a:ext cx="2436530" cy="953133"/>
          </a:xfrm>
        </p:spPr>
        <p:txBody>
          <a:bodyPr>
            <a:normAutofit/>
          </a:bodyPr>
          <a:lstStyle/>
          <a:p>
            <a:r>
              <a:rPr lang="en-US" dirty="0"/>
              <a:t>Team member 1</a:t>
            </a:r>
          </a:p>
          <a:p>
            <a:r>
              <a:rPr lang="en-US" dirty="0" err="1"/>
              <a:t>CpE</a:t>
            </a:r>
            <a:r>
              <a:rPr lang="en-US" dirty="0"/>
              <a:t> or EE?</a:t>
            </a:r>
          </a:p>
        </p:txBody>
      </p:sp>
      <p:pic>
        <p:nvPicPr>
          <p:cNvPr id="1026" name="Picture 2" descr="UNLV: UNLV College of Engineering | GiveGab">
            <a:extLst>
              <a:ext uri="{FF2B5EF4-FFF2-40B4-BE49-F238E27FC236}">
                <a16:creationId xmlns:a16="http://schemas.microsoft.com/office/drawing/2014/main" id="{8E42D37B-B60E-65AC-BB44-ECD62990263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9696" b="38646"/>
          <a:stretch/>
        </p:blipFill>
        <p:spPr bwMode="auto">
          <a:xfrm>
            <a:off x="61870" y="6345869"/>
            <a:ext cx="2795471" cy="40337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7E73B53-E1FA-499C-2B65-7EB1778B4F50}"/>
              </a:ext>
            </a:extLst>
          </p:cNvPr>
          <p:cNvSpPr txBox="1"/>
          <p:nvPr/>
        </p:nvSpPr>
        <p:spPr>
          <a:xfrm>
            <a:off x="3512215" y="4838924"/>
            <a:ext cx="6095064" cy="646331"/>
          </a:xfrm>
          <a:prstGeom prst="rect">
            <a:avLst/>
          </a:prstGeom>
          <a:noFill/>
        </p:spPr>
        <p:txBody>
          <a:bodyPr wrap="square">
            <a:spAutoFit/>
          </a:bodyPr>
          <a:lstStyle/>
          <a:p>
            <a:pPr algn="ctr"/>
            <a:r>
              <a:rPr lang="en-US" dirty="0"/>
              <a:t>Faculty Advisor: </a:t>
            </a:r>
          </a:p>
          <a:p>
            <a:pPr algn="ctr"/>
            <a:r>
              <a:rPr lang="en-US" dirty="0"/>
              <a:t>Department of Electrical and Computer Engineering</a:t>
            </a:r>
          </a:p>
        </p:txBody>
      </p:sp>
      <p:sp>
        <p:nvSpPr>
          <p:cNvPr id="8" name="Subtitle 2">
            <a:extLst>
              <a:ext uri="{FF2B5EF4-FFF2-40B4-BE49-F238E27FC236}">
                <a16:creationId xmlns:a16="http://schemas.microsoft.com/office/drawing/2014/main" id="{6AD9FCA4-AB60-24F3-12C4-19AB51CD2B9F}"/>
              </a:ext>
            </a:extLst>
          </p:cNvPr>
          <p:cNvSpPr txBox="1">
            <a:spLocks/>
          </p:cNvSpPr>
          <p:nvPr/>
        </p:nvSpPr>
        <p:spPr>
          <a:xfrm>
            <a:off x="3960531" y="3711503"/>
            <a:ext cx="2436530" cy="95313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Team member 2</a:t>
            </a:r>
          </a:p>
          <a:p>
            <a:r>
              <a:rPr lang="en-US" dirty="0" err="1"/>
              <a:t>CpE</a:t>
            </a:r>
            <a:r>
              <a:rPr lang="en-US" dirty="0"/>
              <a:t> or EE?</a:t>
            </a:r>
          </a:p>
        </p:txBody>
      </p:sp>
      <p:sp>
        <p:nvSpPr>
          <p:cNvPr id="9" name="Subtitle 2">
            <a:extLst>
              <a:ext uri="{FF2B5EF4-FFF2-40B4-BE49-F238E27FC236}">
                <a16:creationId xmlns:a16="http://schemas.microsoft.com/office/drawing/2014/main" id="{06B02092-DB83-B874-112E-6F0992A765DE}"/>
              </a:ext>
            </a:extLst>
          </p:cNvPr>
          <p:cNvSpPr txBox="1">
            <a:spLocks/>
          </p:cNvSpPr>
          <p:nvPr/>
        </p:nvSpPr>
        <p:spPr>
          <a:xfrm>
            <a:off x="6397061" y="3711503"/>
            <a:ext cx="2436530" cy="95313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Team member 3</a:t>
            </a:r>
          </a:p>
          <a:p>
            <a:r>
              <a:rPr lang="en-US" dirty="0" err="1"/>
              <a:t>CpE</a:t>
            </a:r>
            <a:r>
              <a:rPr lang="en-US" dirty="0"/>
              <a:t> or EE?</a:t>
            </a:r>
          </a:p>
        </p:txBody>
      </p:sp>
      <p:sp>
        <p:nvSpPr>
          <p:cNvPr id="11" name="Subtitle 2">
            <a:extLst>
              <a:ext uri="{FF2B5EF4-FFF2-40B4-BE49-F238E27FC236}">
                <a16:creationId xmlns:a16="http://schemas.microsoft.com/office/drawing/2014/main" id="{3D5C0A82-7D11-30D5-38D6-21240F503399}"/>
              </a:ext>
            </a:extLst>
          </p:cNvPr>
          <p:cNvSpPr txBox="1">
            <a:spLocks/>
          </p:cNvSpPr>
          <p:nvPr/>
        </p:nvSpPr>
        <p:spPr>
          <a:xfrm>
            <a:off x="8833591" y="3711502"/>
            <a:ext cx="2436530" cy="95313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Team member 4</a:t>
            </a:r>
          </a:p>
          <a:p>
            <a:r>
              <a:rPr lang="en-US" dirty="0" err="1"/>
              <a:t>CpE</a:t>
            </a:r>
            <a:r>
              <a:rPr lang="en-US" dirty="0"/>
              <a:t> or EE?</a:t>
            </a:r>
          </a:p>
        </p:txBody>
      </p:sp>
    </p:spTree>
    <p:extLst>
      <p:ext uri="{BB962C8B-B14F-4D97-AF65-F5344CB8AC3E}">
        <p14:creationId xmlns:p14="http://schemas.microsoft.com/office/powerpoint/2010/main" val="4549913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1F1A81-FAE2-50D4-D9B6-356F0E385F27}"/>
              </a:ext>
            </a:extLst>
          </p:cNvPr>
          <p:cNvSpPr>
            <a:spLocks noGrp="1"/>
          </p:cNvSpPr>
          <p:nvPr>
            <p:ph type="title"/>
          </p:nvPr>
        </p:nvSpPr>
        <p:spPr>
          <a:xfrm>
            <a:off x="466722" y="586855"/>
            <a:ext cx="3201366" cy="3387497"/>
          </a:xfrm>
        </p:spPr>
        <p:txBody>
          <a:bodyPr anchor="b">
            <a:normAutofit/>
          </a:bodyPr>
          <a:lstStyle/>
          <a:p>
            <a:pPr algn="r"/>
            <a:r>
              <a:rPr lang="en-US" sz="2200">
                <a:solidFill>
                  <a:srgbClr val="FFFFFF"/>
                </a:solidFill>
              </a:rPr>
              <a:t>Introduction/Background</a:t>
            </a:r>
          </a:p>
        </p:txBody>
      </p:sp>
      <p:sp>
        <p:nvSpPr>
          <p:cNvPr id="3" name="Content Placeholder 2">
            <a:extLst>
              <a:ext uri="{FF2B5EF4-FFF2-40B4-BE49-F238E27FC236}">
                <a16:creationId xmlns:a16="http://schemas.microsoft.com/office/drawing/2014/main" id="{AF3B8289-E774-987C-DF67-D6381F9ED489}"/>
              </a:ext>
            </a:extLst>
          </p:cNvPr>
          <p:cNvSpPr>
            <a:spLocks noGrp="1"/>
          </p:cNvSpPr>
          <p:nvPr>
            <p:ph idx="1"/>
          </p:nvPr>
        </p:nvSpPr>
        <p:spPr>
          <a:xfrm>
            <a:off x="4810259" y="649480"/>
            <a:ext cx="6555347" cy="5546047"/>
          </a:xfrm>
        </p:spPr>
        <p:txBody>
          <a:bodyPr anchor="ctr">
            <a:normAutofit/>
          </a:bodyPr>
          <a:lstStyle/>
          <a:p>
            <a:r>
              <a:rPr lang="en-US" sz="2000"/>
              <a:t>Background and motivation, significance and/or potential impact of your project to any of </a:t>
            </a:r>
            <a:r>
              <a:rPr lang="en-US" sz="2000">
                <a:effectLst/>
                <a:latin typeface="Arial" panose="020B0604020202020204" pitchFamily="34" charset="0"/>
                <a:ea typeface="SimSun" panose="02010600030101010101" pitchFamily="2" charset="-122"/>
              </a:rPr>
              <a:t>----- public health, safety, and welfare, as well as global, cultural, social, environmental, and economic factors</a:t>
            </a:r>
          </a:p>
          <a:p>
            <a:r>
              <a:rPr lang="en-US" sz="2000"/>
              <a:t>Existing/Similar product(s) in the market, and compare the advantages and disadvantages of your solution</a:t>
            </a:r>
          </a:p>
          <a:p>
            <a:r>
              <a:rPr lang="en-US" sz="2000"/>
              <a:t>Use bullets and concise descriptions. Include figures and charts if helpful. Same applied to all slides.</a:t>
            </a:r>
          </a:p>
        </p:txBody>
      </p:sp>
    </p:spTree>
    <p:extLst>
      <p:ext uri="{BB962C8B-B14F-4D97-AF65-F5344CB8AC3E}">
        <p14:creationId xmlns:p14="http://schemas.microsoft.com/office/powerpoint/2010/main" val="1252491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323DEA-539B-35DE-B90F-56478FF740CF}"/>
            </a:ext>
          </a:extLst>
        </p:cNvPr>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8" name="Rectangle 1037">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0" name="Rectangle 1039">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2" name="Rectangle 1041">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118E49-BE7C-A45E-F059-1580D91FA9AE}"/>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kern="1200" dirty="0">
                <a:solidFill>
                  <a:srgbClr val="FFFFFF"/>
                </a:solidFill>
                <a:latin typeface="+mj-lt"/>
                <a:ea typeface="+mj-ea"/>
                <a:cs typeface="+mj-cs"/>
              </a:rPr>
              <a:t>System Diagram</a:t>
            </a:r>
          </a:p>
        </p:txBody>
      </p:sp>
      <p:pic>
        <p:nvPicPr>
          <p:cNvPr id="6" name="Content Placeholder 5">
            <a:extLst>
              <a:ext uri="{FF2B5EF4-FFF2-40B4-BE49-F238E27FC236}">
                <a16:creationId xmlns:a16="http://schemas.microsoft.com/office/drawing/2014/main" id="{85952506-C09F-1F78-E6ED-550918C98F9E}"/>
              </a:ext>
            </a:extLst>
          </p:cNvPr>
          <p:cNvPicPr>
            <a:picLocks noGrp="1" noChangeAspect="1"/>
          </p:cNvPicPr>
          <p:nvPr>
            <p:ph idx="1"/>
          </p:nvPr>
        </p:nvPicPr>
        <p:blipFill>
          <a:blip r:embed="rId2"/>
          <a:stretch>
            <a:fillRect/>
          </a:stretch>
        </p:blipFill>
        <p:spPr>
          <a:xfrm>
            <a:off x="1576040" y="1966293"/>
            <a:ext cx="9039918" cy="4452160"/>
          </a:xfrm>
          <a:prstGeom prst="rect">
            <a:avLst/>
          </a:prstGeom>
        </p:spPr>
      </p:pic>
    </p:spTree>
    <p:extLst>
      <p:ext uri="{BB962C8B-B14F-4D97-AF65-F5344CB8AC3E}">
        <p14:creationId xmlns:p14="http://schemas.microsoft.com/office/powerpoint/2010/main" val="3300270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0592C-30FB-4052-17F4-2C0020FC117A}"/>
              </a:ext>
            </a:extLst>
          </p:cNvPr>
          <p:cNvSpPr>
            <a:spLocks noGrp="1"/>
          </p:cNvSpPr>
          <p:nvPr>
            <p:ph type="title"/>
          </p:nvPr>
        </p:nvSpPr>
        <p:spPr>
          <a:xfrm>
            <a:off x="838200" y="365125"/>
            <a:ext cx="10515600" cy="713867"/>
          </a:xfrm>
        </p:spPr>
        <p:txBody>
          <a:bodyPr/>
          <a:lstStyle/>
          <a:p>
            <a:r>
              <a:rPr lang="en-US"/>
              <a:t>System Data Flow</a:t>
            </a:r>
            <a:endParaRPr lang="en-US" dirty="0"/>
          </a:p>
        </p:txBody>
      </p:sp>
      <p:pic>
        <p:nvPicPr>
          <p:cNvPr id="3074" name="Picture 2">
            <a:extLst>
              <a:ext uri="{FF2B5EF4-FFF2-40B4-BE49-F238E27FC236}">
                <a16:creationId xmlns:a16="http://schemas.microsoft.com/office/drawing/2014/main" id="{661E8857-E4A0-833A-AF63-2A17C59D3DA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512394" y="1078992"/>
            <a:ext cx="7167211" cy="403559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3D2C90B3-E47F-EAB0-1DEC-B0B3C2E17F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2328" y="5114584"/>
            <a:ext cx="6419850" cy="289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973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2F3BCC-5DA2-E435-5605-BABF243E7117}"/>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B9AA7C6-5E5A-498E-A6DF-A943376E0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3EAB11A-76F7-48F4-9B4F-5BFDF4BF9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300" y="2385102"/>
            <a:ext cx="574091" cy="2087796"/>
            <a:chOff x="209668" y="2857422"/>
            <a:chExt cx="463662" cy="2087796"/>
          </a:xfrm>
        </p:grpSpPr>
        <p:sp>
          <p:nvSpPr>
            <p:cNvPr id="20" name="Rectangle 19">
              <a:extLst>
                <a:ext uri="{FF2B5EF4-FFF2-40B4-BE49-F238E27FC236}">
                  <a16:creationId xmlns:a16="http://schemas.microsoft.com/office/drawing/2014/main" id="{74D4C416-D5F4-4F6F-A6F1-87A21CD4F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423947" y="2857422"/>
              <a:ext cx="249383" cy="20877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C6AC1C30-21C6-4BF6-93EE-B211D7A85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09668" y="2857423"/>
              <a:ext cx="1" cy="208779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23" name="Rectangle 22">
            <a:extLst>
              <a:ext uri="{FF2B5EF4-FFF2-40B4-BE49-F238E27FC236}">
                <a16:creationId xmlns:a16="http://schemas.microsoft.com/office/drawing/2014/main" id="{81E140AE-0ABF-47C8-BF32-7D2F0CF2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631767"/>
            <a:ext cx="11111729" cy="575240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44479F-8609-66E0-5CBD-0340AC0C3911}"/>
              </a:ext>
            </a:extLst>
          </p:cNvPr>
          <p:cNvSpPr>
            <a:spLocks noGrp="1"/>
          </p:cNvSpPr>
          <p:nvPr>
            <p:ph type="title"/>
          </p:nvPr>
        </p:nvSpPr>
        <p:spPr>
          <a:xfrm>
            <a:off x="1153618" y="1239927"/>
            <a:ext cx="4008586" cy="4680583"/>
          </a:xfrm>
        </p:spPr>
        <p:txBody>
          <a:bodyPr anchor="ctr">
            <a:normAutofit/>
          </a:bodyPr>
          <a:lstStyle/>
          <a:p>
            <a:r>
              <a:rPr lang="en-US" sz="5200"/>
              <a:t>Fall Detection on/off Mode and Med Reminder</a:t>
            </a:r>
          </a:p>
        </p:txBody>
      </p:sp>
      <p:sp>
        <p:nvSpPr>
          <p:cNvPr id="3" name="Content Placeholder 2">
            <a:extLst>
              <a:ext uri="{FF2B5EF4-FFF2-40B4-BE49-F238E27FC236}">
                <a16:creationId xmlns:a16="http://schemas.microsoft.com/office/drawing/2014/main" id="{231E086E-1CCA-2F62-222D-98AD033E8D41}"/>
              </a:ext>
            </a:extLst>
          </p:cNvPr>
          <p:cNvSpPr>
            <a:spLocks noGrp="1"/>
          </p:cNvSpPr>
          <p:nvPr>
            <p:ph idx="1"/>
          </p:nvPr>
        </p:nvSpPr>
        <p:spPr>
          <a:xfrm>
            <a:off x="6291923" y="1239927"/>
            <a:ext cx="4971824" cy="4680583"/>
          </a:xfrm>
        </p:spPr>
        <p:txBody>
          <a:bodyPr anchor="ctr">
            <a:normAutofit/>
          </a:bodyPr>
          <a:lstStyle/>
          <a:p>
            <a:pPr marL="0" indent="0">
              <a:buNone/>
            </a:pPr>
            <a:r>
              <a:rPr lang="en-US" sz="1100"/>
              <a:t>Function/Module 1:</a:t>
            </a:r>
          </a:p>
          <a:p>
            <a:r>
              <a:rPr lang="en-US" sz="1100"/>
              <a:t>Description (inputs, outputs, relationship/modeling of outputs vs inputs, how it works, etc.)</a:t>
            </a:r>
          </a:p>
          <a:p>
            <a:r>
              <a:rPr lang="en-US" altLang="zh-CN" sz="1100"/>
              <a:t>Detailed data/control flow chart/diagram if necessary</a:t>
            </a:r>
            <a:endParaRPr lang="en-US" sz="1100"/>
          </a:p>
          <a:p>
            <a:r>
              <a:rPr lang="en-US" sz="1100"/>
              <a:t>Specifications (voltage ranges, power rates, distances for the measurements, sensitivities, the standards/protocols you used, etc.) </a:t>
            </a:r>
          </a:p>
          <a:p>
            <a:r>
              <a:rPr lang="en-US" sz="1100"/>
              <a:t>Hardware/Software list</a:t>
            </a:r>
          </a:p>
          <a:p>
            <a:r>
              <a:rPr lang="en-US" sz="1100"/>
              <a:t>If any simulation results</a:t>
            </a:r>
          </a:p>
          <a:p>
            <a:r>
              <a:rPr lang="en-US" sz="1100"/>
              <a:t>If implemented, include the demo video link:</a:t>
            </a:r>
          </a:p>
          <a:p>
            <a:r>
              <a:rPr lang="en-US" sz="1100"/>
              <a:t>Description and analysis based on the outcomes (with screenshots and/or photos if applicable): </a:t>
            </a:r>
          </a:p>
          <a:p>
            <a:pPr lvl="1"/>
            <a:r>
              <a:rPr lang="en-US" sz="1100"/>
              <a:t>Figures/Photos, charts, tables help.</a:t>
            </a:r>
          </a:p>
          <a:p>
            <a:pPr lvl="1"/>
            <a:r>
              <a:rPr lang="en-US" sz="1100"/>
              <a:t>Does it meet the requirements? If not, why?</a:t>
            </a:r>
          </a:p>
          <a:p>
            <a:pPr lvl="1"/>
            <a:r>
              <a:rPr lang="en-US" sz="1100"/>
              <a:t>How many tests have you run? All meet the requirements? Reliability? Accuracy? etc.</a:t>
            </a:r>
          </a:p>
          <a:p>
            <a:pPr lvl="1"/>
            <a:endParaRPr lang="en-US" sz="1100"/>
          </a:p>
          <a:p>
            <a:pPr marL="0" indent="0">
              <a:buNone/>
            </a:pPr>
            <a:r>
              <a:rPr lang="en-US" sz="1100"/>
              <a:t>*** Recommended to use up to 2 pages for each function/module illustration</a:t>
            </a:r>
          </a:p>
          <a:p>
            <a:pPr marL="0" indent="0">
              <a:buNone/>
            </a:pPr>
            <a:endParaRPr lang="en-US" sz="1100"/>
          </a:p>
        </p:txBody>
      </p:sp>
    </p:spTree>
    <p:extLst>
      <p:ext uri="{BB962C8B-B14F-4D97-AF65-F5344CB8AC3E}">
        <p14:creationId xmlns:p14="http://schemas.microsoft.com/office/powerpoint/2010/main" val="4154053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587A3E-316F-A11E-E15F-70A4BD78C6FD}"/>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AAE8D9A-E8FF-1866-E91A-21A7CED02B21}"/>
              </a:ext>
            </a:extLst>
          </p:cNvPr>
          <p:cNvSpPr>
            <a:spLocks noGrp="1"/>
          </p:cNvSpPr>
          <p:nvPr>
            <p:ph type="title"/>
          </p:nvPr>
        </p:nvSpPr>
        <p:spPr>
          <a:xfrm>
            <a:off x="1371597" y="348865"/>
            <a:ext cx="10044023" cy="877729"/>
          </a:xfrm>
        </p:spPr>
        <p:txBody>
          <a:bodyPr anchor="ctr">
            <a:normAutofit/>
          </a:bodyPr>
          <a:lstStyle/>
          <a:p>
            <a:r>
              <a:rPr lang="en-US" sz="4000" dirty="0">
                <a:solidFill>
                  <a:srgbClr val="FFFFFF"/>
                </a:solidFill>
              </a:rPr>
              <a:t>LLM Module (large language model)</a:t>
            </a:r>
          </a:p>
        </p:txBody>
      </p:sp>
      <p:graphicFrame>
        <p:nvGraphicFramePr>
          <p:cNvPr id="5" name="Content Placeholder 2">
            <a:extLst>
              <a:ext uri="{FF2B5EF4-FFF2-40B4-BE49-F238E27FC236}">
                <a16:creationId xmlns:a16="http://schemas.microsoft.com/office/drawing/2014/main" id="{3DAF4316-552A-72A1-A2FB-5DD5B567FF81}"/>
              </a:ext>
            </a:extLst>
          </p:cNvPr>
          <p:cNvGraphicFramePr>
            <a:graphicFrameLocks noGrp="1"/>
          </p:cNvGraphicFramePr>
          <p:nvPr>
            <p:ph idx="1"/>
            <p:extLst>
              <p:ext uri="{D42A27DB-BD31-4B8C-83A1-F6EECF244321}">
                <p14:modId xmlns:p14="http://schemas.microsoft.com/office/powerpoint/2010/main" val="4056915299"/>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725994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C02F6E-AF6E-9AF2-C0F0-C98F2C0A92BC}"/>
            </a:ext>
          </a:extLst>
        </p:cNvPr>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ED6202-1599-8BEE-6C8E-16A45B364C2F}"/>
              </a:ext>
            </a:extLst>
          </p:cNvPr>
          <p:cNvSpPr>
            <a:spLocks noGrp="1"/>
          </p:cNvSpPr>
          <p:nvPr>
            <p:ph type="title"/>
          </p:nvPr>
        </p:nvSpPr>
        <p:spPr>
          <a:xfrm>
            <a:off x="1136397" y="502020"/>
            <a:ext cx="5323715" cy="1642970"/>
          </a:xfrm>
        </p:spPr>
        <p:txBody>
          <a:bodyPr anchor="b">
            <a:normAutofit/>
          </a:bodyPr>
          <a:lstStyle/>
          <a:p>
            <a:r>
              <a:rPr lang="en-US" sz="4000"/>
              <a:t>LLM Module (large language model)</a:t>
            </a:r>
          </a:p>
        </p:txBody>
      </p:sp>
      <p:sp>
        <p:nvSpPr>
          <p:cNvPr id="50" name="Rectangle 49">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black circuit board with white text&#10;&#10;AI-generated content may be incorrect.">
            <a:extLst>
              <a:ext uri="{FF2B5EF4-FFF2-40B4-BE49-F238E27FC236}">
                <a16:creationId xmlns:a16="http://schemas.microsoft.com/office/drawing/2014/main" id="{7705E008-6923-27C1-5A4A-4202C678CC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75967" y="1380535"/>
            <a:ext cx="4170530" cy="4128823"/>
          </a:xfrm>
          <a:prstGeom prst="rect">
            <a:avLst/>
          </a:prstGeom>
        </p:spPr>
      </p:pic>
      <p:graphicFrame>
        <p:nvGraphicFramePr>
          <p:cNvPr id="5" name="Content Placeholder 2">
            <a:extLst>
              <a:ext uri="{FF2B5EF4-FFF2-40B4-BE49-F238E27FC236}">
                <a16:creationId xmlns:a16="http://schemas.microsoft.com/office/drawing/2014/main" id="{25FFAE2F-DB68-0329-68B1-663DABE4C962}"/>
              </a:ext>
            </a:extLst>
          </p:cNvPr>
          <p:cNvGraphicFramePr>
            <a:graphicFrameLocks noGrp="1"/>
          </p:cNvGraphicFramePr>
          <p:nvPr>
            <p:ph idx="1"/>
            <p:extLst>
              <p:ext uri="{D42A27DB-BD31-4B8C-83A1-F6EECF244321}">
                <p14:modId xmlns:p14="http://schemas.microsoft.com/office/powerpoint/2010/main" val="2019493287"/>
              </p:ext>
            </p:extLst>
          </p:nvPr>
        </p:nvGraphicFramePr>
        <p:xfrm>
          <a:off x="1144923" y="2405894"/>
          <a:ext cx="5315189" cy="353508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617018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0D9867-8B57-AB34-5D0D-6E62690F2DB2}"/>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3C6B4577-AF17-2430-8F9D-9F8645C698DF}"/>
              </a:ext>
            </a:extLst>
          </p:cNvPr>
          <p:cNvSpPr>
            <a:spLocks noGrp="1"/>
          </p:cNvSpPr>
          <p:nvPr>
            <p:ph type="title"/>
          </p:nvPr>
        </p:nvSpPr>
        <p:spPr>
          <a:xfrm>
            <a:off x="838200" y="365125"/>
            <a:ext cx="5393361" cy="1325563"/>
          </a:xfrm>
        </p:spPr>
        <p:txBody>
          <a:bodyPr>
            <a:normAutofit/>
          </a:bodyPr>
          <a:lstStyle/>
          <a:p>
            <a:r>
              <a:rPr lang="en-US" dirty="0"/>
              <a:t>Help Request Button</a:t>
            </a:r>
          </a:p>
        </p:txBody>
      </p:sp>
      <p:sp>
        <p:nvSpPr>
          <p:cNvPr id="25" name="Freeform: Shape 24">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6B6AA068-0F12-DBF2-18C7-C607C2AC18C4}"/>
              </a:ext>
            </a:extLst>
          </p:cNvPr>
          <p:cNvSpPr>
            <a:spLocks noGrp="1"/>
          </p:cNvSpPr>
          <p:nvPr>
            <p:ph idx="1"/>
          </p:nvPr>
        </p:nvSpPr>
        <p:spPr>
          <a:xfrm>
            <a:off x="838200" y="1825625"/>
            <a:ext cx="5393361" cy="4351338"/>
          </a:xfrm>
        </p:spPr>
        <p:txBody>
          <a:bodyPr>
            <a:normAutofit/>
          </a:bodyPr>
          <a:lstStyle/>
          <a:p>
            <a:r>
              <a:rPr lang="en-US" sz="2000" dirty="0"/>
              <a:t>CURA provides instant access to help with a single touch, reducing delay during emergencies.</a:t>
            </a:r>
          </a:p>
          <a:p>
            <a:r>
              <a:rPr lang="en-US" sz="2000" dirty="0"/>
              <a:t>Communication is simplified for seniors who may struggle with smartphones or voice commands.</a:t>
            </a:r>
          </a:p>
          <a:p>
            <a:r>
              <a:rPr lang="en-US" sz="2000" dirty="0"/>
              <a:t>Increases independence, allowing seniors to live confidently without constant supervision.</a:t>
            </a:r>
          </a:p>
          <a:p>
            <a:r>
              <a:rPr lang="en-US" sz="2000" dirty="0"/>
              <a:t>Emergency access in cases where speech is impaired.</a:t>
            </a:r>
          </a:p>
          <a:p>
            <a:r>
              <a:rPr lang="en-US" sz="2000" dirty="0"/>
              <a:t>Once pressed preferred family members or emergency services are contacted immediately.</a:t>
            </a:r>
          </a:p>
        </p:txBody>
      </p:sp>
      <p:sp>
        <p:nvSpPr>
          <p:cNvPr id="27" name="Oval 26">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Touchscreen with solid fill">
            <a:extLst>
              <a:ext uri="{FF2B5EF4-FFF2-40B4-BE49-F238E27FC236}">
                <a16:creationId xmlns:a16="http://schemas.microsoft.com/office/drawing/2014/main" id="{4932E842-A3E4-FBD0-18B1-5881B9A6D641}"/>
              </a:ext>
            </a:extLst>
          </p:cNvPr>
          <p:cNvPicPr>
            <a:picLocks noChangeAspect="1"/>
          </p:cNvPicPr>
          <p:nvPr/>
        </p:nvPicPr>
        <p:blipFill>
          <a:blip r:embed="rId3">
            <a:extLst>
              <a:ext uri="{96DAC541-7B7A-43D3-8B79-37D633B846F1}">
                <asvg:svgBlip xmlns:asvg="http://schemas.microsoft.com/office/drawing/2016/SVG/main" r:embed="rId4"/>
              </a:ext>
            </a:extLst>
          </a:blip>
          <a:stretch/>
        </p:blipFill>
        <p:spPr>
          <a:xfrm>
            <a:off x="7887184" y="1216485"/>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29" name="Freeform: Shape 28">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20" name="Straight Connector 19">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1" name="Freeform: Shape 20">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Freeform: Shape 36">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18131448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6A84B152-3496-4C52-AF08-97AFFC09D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D0268F56-46E6-C640-94DE-47A10F3F97AF}"/>
              </a:ext>
            </a:extLst>
          </p:cNvPr>
          <p:cNvSpPr>
            <a:spLocks noGrp="1"/>
          </p:cNvSpPr>
          <p:nvPr>
            <p:ph type="title"/>
          </p:nvPr>
        </p:nvSpPr>
        <p:spPr>
          <a:xfrm>
            <a:off x="838201" y="365125"/>
            <a:ext cx="5393360" cy="1325563"/>
          </a:xfrm>
        </p:spPr>
        <p:txBody>
          <a:bodyPr>
            <a:normAutofit/>
          </a:bodyPr>
          <a:lstStyle/>
          <a:p>
            <a:r>
              <a:rPr lang="en-US" dirty="0"/>
              <a:t>Help Request Button</a:t>
            </a:r>
          </a:p>
        </p:txBody>
      </p:sp>
      <p:sp>
        <p:nvSpPr>
          <p:cNvPr id="44" name="Freeform: Shape 43">
            <a:extLst>
              <a:ext uri="{FF2B5EF4-FFF2-40B4-BE49-F238E27FC236}">
                <a16:creationId xmlns:a16="http://schemas.microsoft.com/office/drawing/2014/main" id="{6B2ADB95-0FA3-4BD7-A8AC-89D014A8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58" name="Content Placeholder 8">
            <a:extLst>
              <a:ext uri="{FF2B5EF4-FFF2-40B4-BE49-F238E27FC236}">
                <a16:creationId xmlns:a16="http://schemas.microsoft.com/office/drawing/2014/main" id="{5B2BC2DE-72F4-79AF-FC6A-604DDB06CE20}"/>
              </a:ext>
            </a:extLst>
          </p:cNvPr>
          <p:cNvGraphicFramePr>
            <a:graphicFrameLocks noGrp="1"/>
          </p:cNvGraphicFramePr>
          <p:nvPr>
            <p:ph idx="1"/>
            <p:extLst>
              <p:ext uri="{D42A27DB-BD31-4B8C-83A1-F6EECF244321}">
                <p14:modId xmlns:p14="http://schemas.microsoft.com/office/powerpoint/2010/main" val="3670934366"/>
              </p:ext>
            </p:extLst>
          </p:nvPr>
        </p:nvGraphicFramePr>
        <p:xfrm>
          <a:off x="838200" y="1825625"/>
          <a:ext cx="5393361"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6" name="Oval 45">
            <a:extLst>
              <a:ext uri="{FF2B5EF4-FFF2-40B4-BE49-F238E27FC236}">
                <a16:creationId xmlns:a16="http://schemas.microsoft.com/office/drawing/2014/main" id="{C924DBCE-E731-4B22-8181-A39C1D862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630884" cy="630884"/>
          </a:xfrm>
          <a:prstGeom prst="ellipse">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Shape 47">
            <a:extLst>
              <a:ext uri="{FF2B5EF4-FFF2-40B4-BE49-F238E27FC236}">
                <a16:creationId xmlns:a16="http://schemas.microsoft.com/office/drawing/2014/main" id="{4CBF9756-6AC8-4C65-84DF-56FBFFA1D8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0227"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pic>
        <p:nvPicPr>
          <p:cNvPr id="5" name="Content Placeholder 4" descr="A screen shot of a device&#10;&#10;AI-generated content may be incorrect.">
            <a:extLst>
              <a:ext uri="{FF2B5EF4-FFF2-40B4-BE49-F238E27FC236}">
                <a16:creationId xmlns:a16="http://schemas.microsoft.com/office/drawing/2014/main" id="{046D1DB5-0CC6-B820-2DEE-26C741CD43CB}"/>
              </a:ext>
            </a:extLst>
          </p:cNvPr>
          <p:cNvPicPr>
            <a:picLocks noChangeAspect="1"/>
          </p:cNvPicPr>
          <p:nvPr/>
        </p:nvPicPr>
        <p:blipFill>
          <a:blip r:embed="rId7">
            <a:extLst>
              <a:ext uri="{28A0092B-C50C-407E-A947-70E740481C1C}">
                <a14:useLocalDpi xmlns:a14="http://schemas.microsoft.com/office/drawing/2010/main" val="0"/>
              </a:ext>
            </a:extLst>
          </a:blip>
          <a:srcRect l="2200" r="199" b="-3"/>
          <a:stretch>
            <a:fillRect/>
          </a:stretch>
        </p:blipFill>
        <p:spPr>
          <a:xfrm>
            <a:off x="7751975" y="1075239"/>
            <a:ext cx="4128603" cy="4128603"/>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50" name="Freeform: Shape 49">
            <a:extLst>
              <a:ext uri="{FF2B5EF4-FFF2-40B4-BE49-F238E27FC236}">
                <a16:creationId xmlns:a16="http://schemas.microsoft.com/office/drawing/2014/main" id="{2D385988-EAAF-4C27-AF8A-2BFBECAF3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52" name="Straight Connector 51">
            <a:extLst>
              <a:ext uri="{FF2B5EF4-FFF2-40B4-BE49-F238E27FC236}">
                <a16:creationId xmlns:a16="http://schemas.microsoft.com/office/drawing/2014/main" id="{43621FD4-D14D-45D5-9A57-9A2DE5EA59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54" name="Freeform: Shape 53">
            <a:extLst>
              <a:ext uri="{FF2B5EF4-FFF2-40B4-BE49-F238E27FC236}">
                <a16:creationId xmlns:a16="http://schemas.microsoft.com/office/drawing/2014/main" id="{B621D332-7329-4994-8836-C429A51B7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6" name="Freeform: Shape 55">
            <a:extLst>
              <a:ext uri="{FF2B5EF4-FFF2-40B4-BE49-F238E27FC236}">
                <a16:creationId xmlns:a16="http://schemas.microsoft.com/office/drawing/2014/main" id="{2D20F754-35A9-4508-BE3C-C59996D143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1223082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162EC5-7B2D-6264-93E3-A24D3530E64A}"/>
            </a:ext>
          </a:extLst>
        </p:cNvPr>
        <p:cNvGrpSpPr/>
        <p:nvPr/>
      </p:nvGrpSpPr>
      <p:grpSpPr>
        <a:xfrm>
          <a:off x="0" y="0"/>
          <a:ext cx="0" cy="0"/>
          <a:chOff x="0" y="0"/>
          <a:chExt cx="0" cy="0"/>
        </a:xfrm>
      </p:grpSpPr>
      <p:sp useBgFill="1">
        <p:nvSpPr>
          <p:cNvPr id="4105" name="Rectangle 4104">
            <a:extLst>
              <a:ext uri="{FF2B5EF4-FFF2-40B4-BE49-F238E27FC236}">
                <a16:creationId xmlns:a16="http://schemas.microsoft.com/office/drawing/2014/main" id="{9E9F2A28-69A3-4945-B6B6-C2E4A6C55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48A1F5-98D7-48F8-80C1-316E49E0A179}"/>
              </a:ext>
            </a:extLst>
          </p:cNvPr>
          <p:cNvSpPr>
            <a:spLocks noGrp="1"/>
          </p:cNvSpPr>
          <p:nvPr>
            <p:ph type="title"/>
          </p:nvPr>
        </p:nvSpPr>
        <p:spPr>
          <a:xfrm>
            <a:off x="6203538" y="365125"/>
            <a:ext cx="5393360" cy="1325563"/>
          </a:xfrm>
        </p:spPr>
        <p:txBody>
          <a:bodyPr>
            <a:normAutofit/>
          </a:bodyPr>
          <a:lstStyle/>
          <a:p>
            <a:r>
              <a:rPr lang="en-US" dirty="0"/>
              <a:t>Healthcare Monitoring</a:t>
            </a:r>
          </a:p>
        </p:txBody>
      </p:sp>
      <p:sp>
        <p:nvSpPr>
          <p:cNvPr id="4107" name="Freeform: Shape 4106">
            <a:extLst>
              <a:ext uri="{FF2B5EF4-FFF2-40B4-BE49-F238E27FC236}">
                <a16:creationId xmlns:a16="http://schemas.microsoft.com/office/drawing/2014/main" id="{CB147A70-DC29-4DDF-A34C-2B82C6E229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84038" y="0"/>
            <a:ext cx="842502" cy="354793"/>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6" name="Picture 2" descr="A white rectangular object with text and numbers&#10;&#10;AI-generated content may be incorrect.">
            <a:extLst>
              <a:ext uri="{FF2B5EF4-FFF2-40B4-BE49-F238E27FC236}">
                <a16:creationId xmlns:a16="http://schemas.microsoft.com/office/drawing/2014/main" id="{FF1CD943-1864-FB33-6A10-3D11AC292CA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14802" y="606415"/>
            <a:ext cx="2533422" cy="2438418"/>
          </a:xfrm>
          <a:custGeom>
            <a:avLst/>
            <a:gdLst/>
            <a:ahLst/>
            <a:cxnLst/>
            <a:rect l="l" t="t" r="r" b="b"/>
            <a:pathLst>
              <a:path w="1999274" h="2247255">
                <a:moveTo>
                  <a:pt x="108501" y="0"/>
                </a:moveTo>
                <a:lnTo>
                  <a:pt x="1890773" y="0"/>
                </a:lnTo>
                <a:cubicBezTo>
                  <a:pt x="1950696" y="0"/>
                  <a:pt x="1999274" y="48578"/>
                  <a:pt x="1999274" y="108501"/>
                </a:cubicBezTo>
                <a:lnTo>
                  <a:pt x="1999274" y="2138754"/>
                </a:lnTo>
                <a:cubicBezTo>
                  <a:pt x="1999274" y="2198677"/>
                  <a:pt x="1950696" y="2247255"/>
                  <a:pt x="1890773" y="2247255"/>
                </a:cubicBezTo>
                <a:lnTo>
                  <a:pt x="108501" y="2247255"/>
                </a:lnTo>
                <a:cubicBezTo>
                  <a:pt x="48578" y="2247255"/>
                  <a:pt x="0" y="2198677"/>
                  <a:pt x="0" y="2138754"/>
                </a:cubicBezTo>
                <a:lnTo>
                  <a:pt x="0" y="108501"/>
                </a:lnTo>
                <a:cubicBezTo>
                  <a:pt x="0" y="48578"/>
                  <a:pt x="48578" y="0"/>
                  <a:pt x="108501" y="0"/>
                </a:cubicBezTo>
                <a:close/>
              </a:path>
            </a:pathLst>
          </a:custGeom>
          <a:noFill/>
          <a:extLst>
            <a:ext uri="{909E8E84-426E-40DD-AFC4-6F175D3DCCD1}">
              <a14:hiddenFill xmlns:a14="http://schemas.microsoft.com/office/drawing/2010/main">
                <a:solidFill>
                  <a:srgbClr val="FFFFFF"/>
                </a:solidFill>
              </a14:hiddenFill>
            </a:ext>
          </a:extLst>
        </p:spPr>
      </p:pic>
      <p:sp>
        <p:nvSpPr>
          <p:cNvPr id="4109" name="Oval 4108">
            <a:extLst>
              <a:ext uri="{FF2B5EF4-FFF2-40B4-BE49-F238E27FC236}">
                <a16:creationId xmlns:a16="http://schemas.microsoft.com/office/drawing/2014/main" id="{3B438362-1E1E-4C62-A99E-4134CB163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731108" y="1327365"/>
            <a:ext cx="610857" cy="61085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1" name="Freeform: Shape 4110">
            <a:extLst>
              <a:ext uri="{FF2B5EF4-FFF2-40B4-BE49-F238E27FC236}">
                <a16:creationId xmlns:a16="http://schemas.microsoft.com/office/drawing/2014/main" id="{6C077334-5571-4B83-A83E-4CCCFA7B5E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628176" y="0"/>
            <a:ext cx="2093996" cy="1402773"/>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pic>
        <p:nvPicPr>
          <p:cNvPr id="4098" name="Picture 2" descr="A white device with a label&#10;&#10;AI-generated content may be incorrect.">
            <a:extLst>
              <a:ext uri="{FF2B5EF4-FFF2-40B4-BE49-F238E27FC236}">
                <a16:creationId xmlns:a16="http://schemas.microsoft.com/office/drawing/2014/main" id="{60E2139F-AFF1-6DAB-834D-36CCC63B33A5}"/>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314801" y="3931118"/>
            <a:ext cx="2533423" cy="1995070"/>
          </a:xfrm>
          <a:custGeom>
            <a:avLst/>
            <a:gdLst/>
            <a:ahLst/>
            <a:cxnLst/>
            <a:rect l="l" t="t" r="r" b="b"/>
            <a:pathLst>
              <a:path w="3064284" h="3064284">
                <a:moveTo>
                  <a:pt x="166483" y="0"/>
                </a:moveTo>
                <a:lnTo>
                  <a:pt x="2897801" y="0"/>
                </a:lnTo>
                <a:cubicBezTo>
                  <a:pt x="2989747" y="0"/>
                  <a:pt x="3064284" y="74537"/>
                  <a:pt x="3064284" y="166483"/>
                </a:cubicBezTo>
                <a:lnTo>
                  <a:pt x="3064284" y="2897801"/>
                </a:lnTo>
                <a:cubicBezTo>
                  <a:pt x="3064284" y="2989747"/>
                  <a:pt x="2989747" y="3064284"/>
                  <a:pt x="2897801" y="3064284"/>
                </a:cubicBezTo>
                <a:lnTo>
                  <a:pt x="166483" y="3064284"/>
                </a:lnTo>
                <a:cubicBezTo>
                  <a:pt x="74537" y="3064284"/>
                  <a:pt x="0" y="2989747"/>
                  <a:pt x="0" y="2897801"/>
                </a:cubicBezTo>
                <a:lnTo>
                  <a:pt x="0" y="166483"/>
                </a:lnTo>
                <a:cubicBezTo>
                  <a:pt x="0" y="74537"/>
                  <a:pt x="74537" y="0"/>
                  <a:pt x="166483" y="0"/>
                </a:cubicBezTo>
                <a:close/>
              </a:path>
            </a:pathLst>
          </a:custGeom>
          <a:noFill/>
          <a:extLst>
            <a:ext uri="{909E8E84-426E-40DD-AFC4-6F175D3DCCD1}">
              <a14:hiddenFill xmlns:a14="http://schemas.microsoft.com/office/drawing/2010/main">
                <a:solidFill>
                  <a:srgbClr val="FFFFFF"/>
                </a:solidFill>
              </a14:hiddenFill>
            </a:ext>
          </a:extLst>
        </p:spPr>
      </p:pic>
      <p:pic>
        <p:nvPicPr>
          <p:cNvPr id="4100" name="Picture 4" descr="A white and red device&#10;&#10;AI-generated content may be incorrect.">
            <a:extLst>
              <a:ext uri="{FF2B5EF4-FFF2-40B4-BE49-F238E27FC236}">
                <a16:creationId xmlns:a16="http://schemas.microsoft.com/office/drawing/2014/main" id="{42674096-B35B-D8C7-6AE0-E2290ECA541F}"/>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3188750" y="2611284"/>
            <a:ext cx="2533422" cy="2096406"/>
          </a:xfrm>
          <a:custGeom>
            <a:avLst/>
            <a:gdLst/>
            <a:ahLst/>
            <a:cxnLst/>
            <a:rect l="l" t="t" r="r" b="b"/>
            <a:pathLst>
              <a:path w="1999274" h="2247255">
                <a:moveTo>
                  <a:pt x="108501" y="0"/>
                </a:moveTo>
                <a:lnTo>
                  <a:pt x="1890773" y="0"/>
                </a:lnTo>
                <a:cubicBezTo>
                  <a:pt x="1950696" y="0"/>
                  <a:pt x="1999274" y="48578"/>
                  <a:pt x="1999274" y="108501"/>
                </a:cubicBezTo>
                <a:lnTo>
                  <a:pt x="1999274" y="2138754"/>
                </a:lnTo>
                <a:cubicBezTo>
                  <a:pt x="1999274" y="2198677"/>
                  <a:pt x="1950696" y="2247255"/>
                  <a:pt x="1890773" y="2247255"/>
                </a:cubicBezTo>
                <a:lnTo>
                  <a:pt x="108501" y="2247255"/>
                </a:lnTo>
                <a:cubicBezTo>
                  <a:pt x="48578" y="2247255"/>
                  <a:pt x="0" y="2198677"/>
                  <a:pt x="0" y="2138754"/>
                </a:cubicBezTo>
                <a:lnTo>
                  <a:pt x="0" y="108501"/>
                </a:lnTo>
                <a:cubicBezTo>
                  <a:pt x="0" y="48578"/>
                  <a:pt x="48578" y="0"/>
                  <a:pt x="108501" y="0"/>
                </a:cubicBezTo>
                <a:close/>
              </a:path>
            </a:pathLst>
          </a:custGeom>
          <a:noFill/>
          <a:extLst>
            <a:ext uri="{909E8E84-426E-40DD-AFC4-6F175D3DCCD1}">
              <a14:hiddenFill xmlns:a14="http://schemas.microsoft.com/office/drawing/2010/main">
                <a:solidFill>
                  <a:srgbClr val="FFFFFF"/>
                </a:solidFill>
              </a14:hiddenFill>
            </a:ext>
          </a:extLst>
        </p:spPr>
      </p:pic>
      <p:sp>
        <p:nvSpPr>
          <p:cNvPr id="4113" name="Arc 4112">
            <a:extLst>
              <a:ext uri="{FF2B5EF4-FFF2-40B4-BE49-F238E27FC236}">
                <a16:creationId xmlns:a16="http://schemas.microsoft.com/office/drawing/2014/main" id="{4D3DC50D-CA0F-48F9-B17E-20D8669AA4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899690" y="5509119"/>
            <a:ext cx="3939038" cy="3939038"/>
          </a:xfrm>
          <a:prstGeom prst="arc">
            <a:avLst>
              <a:gd name="adj1" fmla="val 16200000"/>
              <a:gd name="adj2" fmla="val 20354996"/>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115" name="Freeform: Shape 4114">
            <a:extLst>
              <a:ext uri="{FF2B5EF4-FFF2-40B4-BE49-F238E27FC236}">
                <a16:creationId xmlns:a16="http://schemas.microsoft.com/office/drawing/2014/main" id="{D1B80E9C-CF8A-440B-B8F5-54BF121BF4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724986"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aphicFrame>
        <p:nvGraphicFramePr>
          <p:cNvPr id="5" name="Content Placeholder 2">
            <a:extLst>
              <a:ext uri="{FF2B5EF4-FFF2-40B4-BE49-F238E27FC236}">
                <a16:creationId xmlns:a16="http://schemas.microsoft.com/office/drawing/2014/main" id="{C8E0BEC8-B1CC-702C-8634-E89990B4CE5B}"/>
              </a:ext>
            </a:extLst>
          </p:cNvPr>
          <p:cNvGraphicFramePr>
            <a:graphicFrameLocks noGrp="1"/>
          </p:cNvGraphicFramePr>
          <p:nvPr>
            <p:ph idx="1"/>
            <p:extLst>
              <p:ext uri="{D42A27DB-BD31-4B8C-83A1-F6EECF244321}">
                <p14:modId xmlns:p14="http://schemas.microsoft.com/office/powerpoint/2010/main" val="3360270008"/>
              </p:ext>
            </p:extLst>
          </p:nvPr>
        </p:nvGraphicFramePr>
        <p:xfrm>
          <a:off x="6203537" y="1825625"/>
          <a:ext cx="5393361" cy="4351338"/>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33733572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D81CF71-031E-133E-7859-7DE929910856}"/>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a:solidFill>
                  <a:srgbClr val="FFFFFF"/>
                </a:solidFill>
                <a:latin typeface="+mj-lt"/>
                <a:ea typeface="+mj-ea"/>
                <a:cs typeface="+mj-cs"/>
              </a:rPr>
              <a:t>C.U.R.A Sensor Demonstration</a:t>
            </a:r>
          </a:p>
        </p:txBody>
      </p:sp>
      <p:sp>
        <p:nvSpPr>
          <p:cNvPr id="3" name="Content Placeholder 2">
            <a:extLst>
              <a:ext uri="{FF2B5EF4-FFF2-40B4-BE49-F238E27FC236}">
                <a16:creationId xmlns:a16="http://schemas.microsoft.com/office/drawing/2014/main" id="{F914010E-3E5F-2257-82DD-DD9DB198A219}"/>
              </a:ext>
            </a:extLst>
          </p:cNvPr>
          <p:cNvSpPr>
            <a:spLocks noGrp="1"/>
          </p:cNvSpPr>
          <p:nvPr>
            <p:ph idx="1"/>
          </p:nvPr>
        </p:nvSpPr>
        <p:spPr>
          <a:xfrm>
            <a:off x="1350682" y="4870824"/>
            <a:ext cx="10005951" cy="1458258"/>
          </a:xfrm>
        </p:spPr>
        <p:txBody>
          <a:bodyPr vert="horz" lIns="91440" tIns="45720" rIns="91440" bIns="45720" rtlCol="0" anchor="ctr">
            <a:normAutofit/>
          </a:bodyPr>
          <a:lstStyle/>
          <a:p>
            <a:pPr marL="0" indent="0">
              <a:buNone/>
            </a:pPr>
            <a:r>
              <a:rPr lang="en-US" sz="2400" kern="1200" dirty="0">
                <a:solidFill>
                  <a:schemeClr val="tx1"/>
                </a:solidFill>
                <a:latin typeface="+mn-lt"/>
                <a:ea typeface="+mn-ea"/>
                <a:cs typeface="+mn-cs"/>
              </a:rPr>
              <a:t>Demo: </a:t>
            </a:r>
          </a:p>
        </p:txBody>
      </p:sp>
    </p:spTree>
    <p:extLst>
      <p:ext uri="{BB962C8B-B14F-4D97-AF65-F5344CB8AC3E}">
        <p14:creationId xmlns:p14="http://schemas.microsoft.com/office/powerpoint/2010/main" val="41726297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CE998E-D948-6D2A-4D16-B8AC6E018ED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6897DF-A42A-6882-9243-5BA2E369B292}"/>
              </a:ext>
            </a:extLst>
          </p:cNvPr>
          <p:cNvSpPr>
            <a:spLocks noGrp="1"/>
          </p:cNvSpPr>
          <p:nvPr>
            <p:ph type="title"/>
          </p:nvPr>
        </p:nvSpPr>
        <p:spPr>
          <a:xfrm>
            <a:off x="645065" y="1463040"/>
            <a:ext cx="3796306" cy="2690949"/>
          </a:xfrm>
        </p:spPr>
        <p:txBody>
          <a:bodyPr anchor="t">
            <a:normAutofit/>
          </a:bodyPr>
          <a:lstStyle/>
          <a:p>
            <a:r>
              <a:rPr lang="en-US" sz="4100"/>
              <a:t>Function/Module Breakdown</a:t>
            </a:r>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2BE0374-F891-93F6-30F4-5A1E8EB41C20}"/>
              </a:ext>
            </a:extLst>
          </p:cNvPr>
          <p:cNvSpPr>
            <a:spLocks noGrp="1"/>
          </p:cNvSpPr>
          <p:nvPr>
            <p:ph idx="1"/>
          </p:nvPr>
        </p:nvSpPr>
        <p:spPr>
          <a:xfrm>
            <a:off x="5656218" y="1463039"/>
            <a:ext cx="5542387" cy="4300447"/>
          </a:xfrm>
        </p:spPr>
        <p:txBody>
          <a:bodyPr anchor="t">
            <a:normAutofit/>
          </a:bodyPr>
          <a:lstStyle/>
          <a:p>
            <a:pPr marL="0" indent="0">
              <a:buNone/>
            </a:pPr>
            <a:r>
              <a:rPr lang="en-US" sz="1200"/>
              <a:t>Function/Module 1:</a:t>
            </a:r>
          </a:p>
          <a:p>
            <a:r>
              <a:rPr lang="en-US" sz="1200"/>
              <a:t>Description (inputs, outputs, relationship/modeling of outputs vs inputs, how it works, etc.)</a:t>
            </a:r>
          </a:p>
          <a:p>
            <a:r>
              <a:rPr lang="en-US" altLang="zh-CN" sz="1200"/>
              <a:t>Detailed data/control flow chart/diagram if necessary</a:t>
            </a:r>
            <a:endParaRPr lang="en-US" sz="1200"/>
          </a:p>
          <a:p>
            <a:r>
              <a:rPr lang="en-US" sz="1200"/>
              <a:t>Specifications (voltage ranges, power rates, distances for the measurements, sensitivities, the standards/protocols you used, etc.) </a:t>
            </a:r>
          </a:p>
          <a:p>
            <a:r>
              <a:rPr lang="en-US" sz="1200"/>
              <a:t>Hardware/Software list</a:t>
            </a:r>
          </a:p>
          <a:p>
            <a:r>
              <a:rPr lang="en-US" sz="1200"/>
              <a:t>If any simulation results</a:t>
            </a:r>
          </a:p>
          <a:p>
            <a:r>
              <a:rPr lang="en-US" sz="1200"/>
              <a:t>If implemented, include the demo video link:</a:t>
            </a:r>
          </a:p>
          <a:p>
            <a:r>
              <a:rPr lang="en-US" sz="1200"/>
              <a:t>Description and analysis based on the outcomes (with screenshots and/or photos if applicable): </a:t>
            </a:r>
          </a:p>
          <a:p>
            <a:pPr lvl="1"/>
            <a:r>
              <a:rPr lang="en-US" sz="1200"/>
              <a:t>Figures/Photos, charts, tables help.</a:t>
            </a:r>
          </a:p>
          <a:p>
            <a:pPr lvl="1"/>
            <a:r>
              <a:rPr lang="en-US" sz="1200"/>
              <a:t>Does it meet the requirements? If not, why?</a:t>
            </a:r>
          </a:p>
          <a:p>
            <a:pPr lvl="1"/>
            <a:r>
              <a:rPr lang="en-US" sz="1200"/>
              <a:t>How many tests have you run? All meet the requirements? Reliability? Accuracy? etc.</a:t>
            </a:r>
          </a:p>
          <a:p>
            <a:pPr lvl="1"/>
            <a:endParaRPr lang="en-US" sz="1200"/>
          </a:p>
          <a:p>
            <a:pPr marL="0" indent="0">
              <a:buNone/>
            </a:pPr>
            <a:r>
              <a:rPr lang="en-US" sz="1200"/>
              <a:t>*** Recommended to use up to 2 pages for each function/module illustration</a:t>
            </a:r>
          </a:p>
          <a:p>
            <a:pPr marL="0" indent="0">
              <a:buNone/>
            </a:pPr>
            <a:endParaRPr lang="en-US" sz="1200"/>
          </a:p>
        </p:txBody>
      </p:sp>
    </p:spTree>
    <p:extLst>
      <p:ext uri="{BB962C8B-B14F-4D97-AF65-F5344CB8AC3E}">
        <p14:creationId xmlns:p14="http://schemas.microsoft.com/office/powerpoint/2010/main" val="2821216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B54D41-0622-F87A-E097-D630758A620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C555BC15-80FC-ECF7-B636-522201137D7B}"/>
              </a:ext>
            </a:extLst>
          </p:cNvPr>
          <p:cNvSpPr>
            <a:spLocks noGrp="1"/>
          </p:cNvSpPr>
          <p:nvPr>
            <p:ph type="title"/>
          </p:nvPr>
        </p:nvSpPr>
        <p:spPr>
          <a:xfrm>
            <a:off x="640080" y="1243013"/>
            <a:ext cx="3855720" cy="4371974"/>
          </a:xfrm>
        </p:spPr>
        <p:txBody>
          <a:bodyPr>
            <a:normAutofit/>
          </a:bodyPr>
          <a:lstStyle/>
          <a:p>
            <a:r>
              <a:rPr lang="en-US" sz="3600">
                <a:solidFill>
                  <a:schemeClr val="tx2"/>
                </a:solidFill>
              </a:rPr>
              <a:t>New Skills Learned</a:t>
            </a:r>
          </a:p>
        </p:txBody>
      </p:sp>
      <p:sp>
        <p:nvSpPr>
          <p:cNvPr id="3" name="Content Placeholder 2">
            <a:extLst>
              <a:ext uri="{FF2B5EF4-FFF2-40B4-BE49-F238E27FC236}">
                <a16:creationId xmlns:a16="http://schemas.microsoft.com/office/drawing/2014/main" id="{3B838FCF-352E-739A-8781-ED28513ED33C}"/>
              </a:ext>
            </a:extLst>
          </p:cNvPr>
          <p:cNvSpPr>
            <a:spLocks noGrp="1"/>
          </p:cNvSpPr>
          <p:nvPr>
            <p:ph idx="1"/>
          </p:nvPr>
        </p:nvSpPr>
        <p:spPr>
          <a:xfrm>
            <a:off x="6172200" y="804672"/>
            <a:ext cx="5221224" cy="5230368"/>
          </a:xfrm>
        </p:spPr>
        <p:txBody>
          <a:bodyPr anchor="ctr">
            <a:normAutofit/>
          </a:bodyPr>
          <a:lstStyle/>
          <a:p>
            <a:r>
              <a:rPr lang="en-US" sz="1800">
                <a:solidFill>
                  <a:schemeClr val="tx2"/>
                </a:solidFill>
              </a:rPr>
              <a:t>New skill 1: to achieve ...</a:t>
            </a:r>
          </a:p>
          <a:p>
            <a:r>
              <a:rPr lang="en-US" sz="1800">
                <a:solidFill>
                  <a:schemeClr val="tx2"/>
                </a:solidFill>
              </a:rPr>
              <a:t>New skill 2: to achieve …</a:t>
            </a:r>
          </a:p>
          <a:p>
            <a:r>
              <a:rPr lang="en-US" sz="1800">
                <a:solidFill>
                  <a:schemeClr val="tx2"/>
                </a:solidFill>
              </a:rPr>
              <a:t>…</a:t>
            </a:r>
          </a:p>
          <a:p>
            <a:pPr marL="0" indent="0">
              <a:buNone/>
            </a:pPr>
            <a:endParaRPr lang="en-US" sz="1800">
              <a:solidFill>
                <a:schemeClr val="tx2"/>
              </a:solidFill>
            </a:endParaRPr>
          </a:p>
        </p:txBody>
      </p:sp>
    </p:spTree>
    <p:extLst>
      <p:ext uri="{BB962C8B-B14F-4D97-AF65-F5344CB8AC3E}">
        <p14:creationId xmlns:p14="http://schemas.microsoft.com/office/powerpoint/2010/main" val="2451387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B9898C-05D4-589D-1FE2-4B896E2C3C42}"/>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B4237BE-F0B5-61C4-AFD7-AB3A93D23FD3}"/>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3100" kern="1200">
                <a:solidFill>
                  <a:srgbClr val="FFFFFF"/>
                </a:solidFill>
                <a:latin typeface="+mj-lt"/>
                <a:ea typeface="+mj-ea"/>
                <a:cs typeface="+mj-cs"/>
              </a:rPr>
              <a:t>Team Member Responsibilities</a:t>
            </a:r>
          </a:p>
        </p:txBody>
      </p:sp>
      <p:graphicFrame>
        <p:nvGraphicFramePr>
          <p:cNvPr id="6" name="Table 5">
            <a:extLst>
              <a:ext uri="{FF2B5EF4-FFF2-40B4-BE49-F238E27FC236}">
                <a16:creationId xmlns:a16="http://schemas.microsoft.com/office/drawing/2014/main" id="{23B4B84D-612C-1561-C7A9-B849D697F73F}"/>
              </a:ext>
            </a:extLst>
          </p:cNvPr>
          <p:cNvGraphicFramePr>
            <a:graphicFrameLocks noGrp="1"/>
          </p:cNvGraphicFramePr>
          <p:nvPr>
            <p:extLst>
              <p:ext uri="{D42A27DB-BD31-4B8C-83A1-F6EECF244321}">
                <p14:modId xmlns:p14="http://schemas.microsoft.com/office/powerpoint/2010/main" val="2376066504"/>
              </p:ext>
            </p:extLst>
          </p:nvPr>
        </p:nvGraphicFramePr>
        <p:xfrm>
          <a:off x="4502428" y="1732188"/>
          <a:ext cx="7225749" cy="3393627"/>
        </p:xfrm>
        <a:graphic>
          <a:graphicData uri="http://schemas.openxmlformats.org/drawingml/2006/table">
            <a:tbl>
              <a:tblPr>
                <a:solidFill>
                  <a:schemeClr val="bg1"/>
                </a:solidFill>
                <a:tableStyleId>{5C22544A-7EE6-4342-B048-85BDC9FD1C3A}</a:tableStyleId>
              </a:tblPr>
              <a:tblGrid>
                <a:gridCol w="1997760">
                  <a:extLst>
                    <a:ext uri="{9D8B030D-6E8A-4147-A177-3AD203B41FA5}">
                      <a16:colId xmlns:a16="http://schemas.microsoft.com/office/drawing/2014/main" val="1709533939"/>
                    </a:ext>
                  </a:extLst>
                </a:gridCol>
                <a:gridCol w="5227989">
                  <a:extLst>
                    <a:ext uri="{9D8B030D-6E8A-4147-A177-3AD203B41FA5}">
                      <a16:colId xmlns:a16="http://schemas.microsoft.com/office/drawing/2014/main" val="1367339119"/>
                    </a:ext>
                  </a:extLst>
                </a:gridCol>
              </a:tblGrid>
              <a:tr h="948963">
                <a:tc>
                  <a:txBody>
                    <a:bodyPr/>
                    <a:lstStyle/>
                    <a:p>
                      <a:pPr marL="0" marR="0">
                        <a:lnSpc>
                          <a:spcPct val="115000"/>
                        </a:lnSpc>
                        <a:buNone/>
                      </a:pPr>
                      <a:r>
                        <a:rPr lang="en-US" sz="1900" cap="none" spc="0">
                          <a:solidFill>
                            <a:schemeClr val="tx1"/>
                          </a:solidFill>
                          <a:effectLst/>
                        </a:rPr>
                        <a:t>Team member name</a:t>
                      </a:r>
                      <a:endParaRPr lang="en-US" sz="1900" cap="none" spc="0">
                        <a:solidFill>
                          <a:schemeClr val="tx1"/>
                        </a:solidFill>
                        <a:effectLst/>
                        <a:latin typeface="Arial" panose="020B0604020202020204" pitchFamily="34" charset="0"/>
                        <a:ea typeface="SimSun" panose="02010600030101010101" pitchFamily="2" charset="-122"/>
                      </a:endParaRPr>
                    </a:p>
                  </a:txBody>
                  <a:tcPr marL="163653" marR="87422" marT="125887" marB="125887">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marL="0" marR="0">
                        <a:lnSpc>
                          <a:spcPct val="115000"/>
                        </a:lnSpc>
                        <a:buNone/>
                      </a:pPr>
                      <a:r>
                        <a:rPr lang="en-US" sz="1900" cap="none" spc="0">
                          <a:solidFill>
                            <a:schemeClr val="tx1"/>
                          </a:solidFill>
                          <a:effectLst/>
                        </a:rPr>
                        <a:t>Contributions &amp; Implemented Functions (use bullets)</a:t>
                      </a:r>
                      <a:endParaRPr lang="en-US" sz="1900" cap="none" spc="0">
                        <a:solidFill>
                          <a:schemeClr val="tx1"/>
                        </a:solidFill>
                        <a:effectLst/>
                        <a:latin typeface="Arial" panose="020B0604020202020204" pitchFamily="34" charset="0"/>
                        <a:ea typeface="SimSun" panose="02010600030101010101" pitchFamily="2" charset="-122"/>
                      </a:endParaRPr>
                    </a:p>
                  </a:txBody>
                  <a:tcPr marL="163653" marR="87422" marT="125887" marB="125887">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66652772"/>
                  </a:ext>
                </a:extLst>
              </a:tr>
              <a:tr h="611166">
                <a:tc>
                  <a:txBody>
                    <a:bodyPr/>
                    <a:lstStyle/>
                    <a:p>
                      <a:pPr marL="0" marR="0">
                        <a:lnSpc>
                          <a:spcPct val="115000"/>
                        </a:lnSpc>
                        <a:buNone/>
                      </a:pPr>
                      <a:r>
                        <a:rPr lang="en-US" sz="1900" cap="none" spc="0">
                          <a:solidFill>
                            <a:schemeClr val="tx1"/>
                          </a:solidFill>
                          <a:effectLst/>
                        </a:rPr>
                        <a:t> </a:t>
                      </a:r>
                      <a:endParaRPr lang="en-US" sz="1900" cap="none" spc="0">
                        <a:solidFill>
                          <a:schemeClr val="tx1"/>
                        </a:solidFill>
                        <a:effectLst/>
                        <a:latin typeface="Arial" panose="020B0604020202020204" pitchFamily="34" charset="0"/>
                        <a:ea typeface="SimSun" panose="02010600030101010101" pitchFamily="2" charset="-122"/>
                      </a:endParaRPr>
                    </a:p>
                  </a:txBody>
                  <a:tcPr marL="163653" marR="87422" marT="125887" marB="125887">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marL="0" marR="0">
                        <a:lnSpc>
                          <a:spcPct val="115000"/>
                        </a:lnSpc>
                        <a:buNone/>
                      </a:pPr>
                      <a:r>
                        <a:rPr lang="en-US" sz="1900" cap="none" spc="0">
                          <a:solidFill>
                            <a:schemeClr val="tx1"/>
                          </a:solidFill>
                          <a:effectLst/>
                        </a:rPr>
                        <a:t> </a:t>
                      </a:r>
                      <a:endParaRPr lang="en-US" sz="1900" cap="none" spc="0">
                        <a:solidFill>
                          <a:schemeClr val="tx1"/>
                        </a:solidFill>
                        <a:effectLst/>
                        <a:latin typeface="Arial" panose="020B0604020202020204" pitchFamily="34" charset="0"/>
                        <a:ea typeface="SimSun" panose="02010600030101010101" pitchFamily="2" charset="-122"/>
                      </a:endParaRPr>
                    </a:p>
                  </a:txBody>
                  <a:tcPr marL="163653" marR="87422" marT="125887" marB="125887">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803464903"/>
                  </a:ext>
                </a:extLst>
              </a:tr>
              <a:tr h="611166">
                <a:tc>
                  <a:txBody>
                    <a:bodyPr/>
                    <a:lstStyle/>
                    <a:p>
                      <a:pPr marL="0" marR="0">
                        <a:lnSpc>
                          <a:spcPct val="115000"/>
                        </a:lnSpc>
                        <a:buNone/>
                      </a:pPr>
                      <a:r>
                        <a:rPr lang="en-US" sz="1900" cap="none" spc="0">
                          <a:solidFill>
                            <a:schemeClr val="tx1"/>
                          </a:solidFill>
                          <a:effectLst/>
                        </a:rPr>
                        <a:t> </a:t>
                      </a:r>
                      <a:endParaRPr lang="en-US" sz="1900" cap="none" spc="0">
                        <a:solidFill>
                          <a:schemeClr val="tx1"/>
                        </a:solidFill>
                        <a:effectLst/>
                        <a:latin typeface="Arial" panose="020B0604020202020204" pitchFamily="34" charset="0"/>
                        <a:ea typeface="SimSun" panose="02010600030101010101" pitchFamily="2" charset="-122"/>
                      </a:endParaRPr>
                    </a:p>
                  </a:txBody>
                  <a:tcPr marL="163653" marR="87422" marT="125887" marB="125887">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marL="0" marR="0">
                        <a:lnSpc>
                          <a:spcPct val="115000"/>
                        </a:lnSpc>
                        <a:buNone/>
                      </a:pPr>
                      <a:r>
                        <a:rPr lang="en-US" sz="1900" cap="none" spc="0">
                          <a:solidFill>
                            <a:schemeClr val="tx1"/>
                          </a:solidFill>
                          <a:effectLst/>
                        </a:rPr>
                        <a:t> </a:t>
                      </a:r>
                      <a:endParaRPr lang="en-US" sz="1900" cap="none" spc="0">
                        <a:solidFill>
                          <a:schemeClr val="tx1"/>
                        </a:solidFill>
                        <a:effectLst/>
                        <a:latin typeface="Arial" panose="020B0604020202020204" pitchFamily="34" charset="0"/>
                        <a:ea typeface="SimSun" panose="02010600030101010101" pitchFamily="2" charset="-122"/>
                      </a:endParaRPr>
                    </a:p>
                  </a:txBody>
                  <a:tcPr marL="163653" marR="87422" marT="125887" marB="125887">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2761459596"/>
                  </a:ext>
                </a:extLst>
              </a:tr>
              <a:tr h="611166">
                <a:tc>
                  <a:txBody>
                    <a:bodyPr/>
                    <a:lstStyle/>
                    <a:p>
                      <a:pPr marL="0" marR="0">
                        <a:lnSpc>
                          <a:spcPct val="115000"/>
                        </a:lnSpc>
                        <a:buNone/>
                      </a:pPr>
                      <a:r>
                        <a:rPr lang="en-US" sz="1900" cap="none" spc="0">
                          <a:solidFill>
                            <a:schemeClr val="tx1"/>
                          </a:solidFill>
                          <a:effectLst/>
                        </a:rPr>
                        <a:t> </a:t>
                      </a:r>
                      <a:endParaRPr lang="en-US" sz="1900" cap="none" spc="0">
                        <a:solidFill>
                          <a:schemeClr val="tx1"/>
                        </a:solidFill>
                        <a:effectLst/>
                        <a:latin typeface="Arial" panose="020B0604020202020204" pitchFamily="34" charset="0"/>
                        <a:ea typeface="SimSun" panose="02010600030101010101" pitchFamily="2" charset="-122"/>
                      </a:endParaRPr>
                    </a:p>
                  </a:txBody>
                  <a:tcPr marL="163653" marR="87422" marT="125887" marB="125887">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marL="0" marR="0">
                        <a:lnSpc>
                          <a:spcPct val="115000"/>
                        </a:lnSpc>
                        <a:buNone/>
                      </a:pPr>
                      <a:r>
                        <a:rPr lang="en-US" sz="1900" cap="none" spc="0">
                          <a:solidFill>
                            <a:schemeClr val="tx1"/>
                          </a:solidFill>
                          <a:effectLst/>
                        </a:rPr>
                        <a:t> </a:t>
                      </a:r>
                      <a:endParaRPr lang="en-US" sz="1900" cap="none" spc="0">
                        <a:solidFill>
                          <a:schemeClr val="tx1"/>
                        </a:solidFill>
                        <a:effectLst/>
                        <a:latin typeface="Arial" panose="020B0604020202020204" pitchFamily="34" charset="0"/>
                        <a:ea typeface="SimSun" panose="02010600030101010101" pitchFamily="2" charset="-122"/>
                      </a:endParaRPr>
                    </a:p>
                  </a:txBody>
                  <a:tcPr marL="163653" marR="87422" marT="125887" marB="125887">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69299986"/>
                  </a:ext>
                </a:extLst>
              </a:tr>
              <a:tr h="611166">
                <a:tc>
                  <a:txBody>
                    <a:bodyPr/>
                    <a:lstStyle/>
                    <a:p>
                      <a:pPr marL="0" marR="0">
                        <a:lnSpc>
                          <a:spcPct val="115000"/>
                        </a:lnSpc>
                        <a:buNone/>
                      </a:pPr>
                      <a:r>
                        <a:rPr lang="en-US" sz="1900" cap="none" spc="0">
                          <a:solidFill>
                            <a:schemeClr val="tx1"/>
                          </a:solidFill>
                          <a:effectLst/>
                        </a:rPr>
                        <a:t> </a:t>
                      </a:r>
                      <a:endParaRPr lang="en-US" sz="1900" cap="none" spc="0">
                        <a:solidFill>
                          <a:schemeClr val="tx1"/>
                        </a:solidFill>
                        <a:effectLst/>
                        <a:latin typeface="Arial" panose="020B0604020202020204" pitchFamily="34" charset="0"/>
                        <a:ea typeface="SimSun" panose="02010600030101010101" pitchFamily="2" charset="-122"/>
                      </a:endParaRPr>
                    </a:p>
                  </a:txBody>
                  <a:tcPr marL="163653" marR="87422" marT="125887" marB="125887">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marL="0" marR="0">
                        <a:lnSpc>
                          <a:spcPct val="115000"/>
                        </a:lnSpc>
                        <a:buNone/>
                      </a:pPr>
                      <a:r>
                        <a:rPr lang="en-US" sz="1900" cap="none" spc="0">
                          <a:solidFill>
                            <a:schemeClr val="tx1"/>
                          </a:solidFill>
                          <a:effectLst/>
                        </a:rPr>
                        <a:t> </a:t>
                      </a:r>
                      <a:endParaRPr lang="en-US" sz="1900" cap="none" spc="0">
                        <a:solidFill>
                          <a:schemeClr val="tx1"/>
                        </a:solidFill>
                        <a:effectLst/>
                        <a:latin typeface="Arial" panose="020B0604020202020204" pitchFamily="34" charset="0"/>
                        <a:ea typeface="SimSun" panose="02010600030101010101" pitchFamily="2" charset="-122"/>
                      </a:endParaRPr>
                    </a:p>
                  </a:txBody>
                  <a:tcPr marL="163653" marR="87422" marT="125887" marB="125887">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621390084"/>
                  </a:ext>
                </a:extLst>
              </a:tr>
            </a:tbl>
          </a:graphicData>
        </a:graphic>
      </p:graphicFrame>
    </p:spTree>
    <p:extLst>
      <p:ext uri="{BB962C8B-B14F-4D97-AF65-F5344CB8AC3E}">
        <p14:creationId xmlns:p14="http://schemas.microsoft.com/office/powerpoint/2010/main" val="12021727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747BFC-DEC1-52E6-22A8-8B458DF3EB2C}"/>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Conclusions</a:t>
            </a:r>
          </a:p>
        </p:txBody>
      </p:sp>
      <p:sp>
        <p:nvSpPr>
          <p:cNvPr id="3" name="Content Placeholder 2">
            <a:extLst>
              <a:ext uri="{FF2B5EF4-FFF2-40B4-BE49-F238E27FC236}">
                <a16:creationId xmlns:a16="http://schemas.microsoft.com/office/drawing/2014/main" id="{580C6E6E-83CC-C776-08B1-0D2272E94847}"/>
              </a:ext>
            </a:extLst>
          </p:cNvPr>
          <p:cNvSpPr>
            <a:spLocks noGrp="1"/>
          </p:cNvSpPr>
          <p:nvPr>
            <p:ph idx="1"/>
          </p:nvPr>
        </p:nvSpPr>
        <p:spPr>
          <a:xfrm>
            <a:off x="4810259" y="649480"/>
            <a:ext cx="6555347" cy="5546047"/>
          </a:xfrm>
        </p:spPr>
        <p:txBody>
          <a:bodyPr anchor="ctr">
            <a:normAutofit/>
          </a:bodyPr>
          <a:lstStyle/>
          <a:p>
            <a:r>
              <a:rPr lang="en-US" sz="2000"/>
              <a:t>Summarize your project or current progress, including the completion of functionality, budget, etc.</a:t>
            </a:r>
          </a:p>
          <a:p>
            <a:r>
              <a:rPr lang="en-US" sz="2000"/>
              <a:t>Illustrate your next steps and/or perspectives</a:t>
            </a:r>
          </a:p>
        </p:txBody>
      </p:sp>
    </p:spTree>
    <p:extLst>
      <p:ext uri="{BB962C8B-B14F-4D97-AF65-F5344CB8AC3E}">
        <p14:creationId xmlns:p14="http://schemas.microsoft.com/office/powerpoint/2010/main" val="29785734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D52BC3-FC81-5B22-C9E8-46F858B404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27E3AD-1D1C-6C2A-D90E-73F3FE214487}"/>
              </a:ext>
            </a:extLst>
          </p:cNvPr>
          <p:cNvSpPr>
            <a:spLocks noGrp="1"/>
          </p:cNvSpPr>
          <p:nvPr>
            <p:ph type="title"/>
          </p:nvPr>
        </p:nvSpPr>
        <p:spPr>
          <a:xfrm>
            <a:off x="5868557" y="1138036"/>
            <a:ext cx="5444382" cy="1402470"/>
          </a:xfrm>
        </p:spPr>
        <p:txBody>
          <a:bodyPr anchor="t">
            <a:normAutofit/>
          </a:bodyPr>
          <a:lstStyle/>
          <a:p>
            <a:r>
              <a:rPr lang="en-US" sz="3200"/>
              <a:t>Acknowledgement</a:t>
            </a:r>
          </a:p>
        </p:txBody>
      </p:sp>
      <p:pic>
        <p:nvPicPr>
          <p:cNvPr id="17" name="Picture 16" descr="One in a crowd">
            <a:extLst>
              <a:ext uri="{FF2B5EF4-FFF2-40B4-BE49-F238E27FC236}">
                <a16:creationId xmlns:a16="http://schemas.microsoft.com/office/drawing/2014/main" id="{492C12B1-6885-BAC6-6392-7F2A4BDD4690}"/>
              </a:ext>
            </a:extLst>
          </p:cNvPr>
          <p:cNvPicPr>
            <a:picLocks noChangeAspect="1"/>
          </p:cNvPicPr>
          <p:nvPr/>
        </p:nvPicPr>
        <p:blipFill>
          <a:blip r:embed="rId2"/>
          <a:srcRect l="25928" r="17738"/>
          <a:stretch>
            <a:fillRect/>
          </a:stretch>
        </p:blipFill>
        <p:spPr>
          <a:xfrm>
            <a:off x="-1" y="10"/>
            <a:ext cx="5151179" cy="6857990"/>
          </a:xfrm>
          <a:prstGeom prst="rect">
            <a:avLst/>
          </a:prstGeom>
        </p:spPr>
      </p:pic>
      <p:cxnSp>
        <p:nvCxnSpPr>
          <p:cNvPr id="18" name="Straight Connector 17">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F0FD020-04FB-DBAC-1D92-9C7FCCA880A0}"/>
              </a:ext>
            </a:extLst>
          </p:cNvPr>
          <p:cNvSpPr>
            <a:spLocks noGrp="1"/>
          </p:cNvSpPr>
          <p:nvPr>
            <p:ph idx="1"/>
          </p:nvPr>
        </p:nvSpPr>
        <p:spPr>
          <a:xfrm>
            <a:off x="5868557" y="2551176"/>
            <a:ext cx="5444382" cy="3591207"/>
          </a:xfrm>
        </p:spPr>
        <p:txBody>
          <a:bodyPr>
            <a:normAutofit/>
          </a:bodyPr>
          <a:lstStyle/>
          <a:p>
            <a:r>
              <a:rPr lang="en-US" sz="2000"/>
              <a:t>Acknowledge the contributions from individuals other than your team (e.g., faculty advisors, friends, peer fellows, etc.)</a:t>
            </a:r>
          </a:p>
        </p:txBody>
      </p:sp>
    </p:spTree>
    <p:extLst>
      <p:ext uri="{BB962C8B-B14F-4D97-AF65-F5344CB8AC3E}">
        <p14:creationId xmlns:p14="http://schemas.microsoft.com/office/powerpoint/2010/main" val="34195865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1C457C-BE5D-D8BC-E5D4-B72421CD46C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74B07D-5850-CC10-BD05-C23F187F9B11}"/>
              </a:ext>
            </a:extLst>
          </p:cNvPr>
          <p:cNvSpPr>
            <a:spLocks noGrp="1"/>
          </p:cNvSpPr>
          <p:nvPr>
            <p:ph type="title"/>
          </p:nvPr>
        </p:nvSpPr>
        <p:spPr>
          <a:xfrm>
            <a:off x="1282963" y="1238080"/>
            <a:ext cx="9849751" cy="1349671"/>
          </a:xfrm>
        </p:spPr>
        <p:txBody>
          <a:bodyPr anchor="b">
            <a:normAutofit/>
          </a:bodyPr>
          <a:lstStyle/>
          <a:p>
            <a:r>
              <a:rPr lang="en-US" sz="5400"/>
              <a:t>References</a:t>
            </a:r>
          </a:p>
        </p:txBody>
      </p:sp>
      <p:sp>
        <p:nvSpPr>
          <p:cNvPr id="3" name="Content Placeholder 2">
            <a:extLst>
              <a:ext uri="{FF2B5EF4-FFF2-40B4-BE49-F238E27FC236}">
                <a16:creationId xmlns:a16="http://schemas.microsoft.com/office/drawing/2014/main" id="{4AD18560-2360-F90A-2B1C-1107B64B2FA4}"/>
              </a:ext>
            </a:extLst>
          </p:cNvPr>
          <p:cNvSpPr>
            <a:spLocks noGrp="1"/>
          </p:cNvSpPr>
          <p:nvPr>
            <p:ph idx="1"/>
          </p:nvPr>
        </p:nvSpPr>
        <p:spPr>
          <a:xfrm>
            <a:off x="1289304" y="2902913"/>
            <a:ext cx="9849751" cy="3032168"/>
          </a:xfrm>
        </p:spPr>
        <p:txBody>
          <a:bodyPr anchor="ctr">
            <a:normAutofit/>
          </a:bodyPr>
          <a:lstStyle/>
          <a:p>
            <a:r>
              <a:rPr lang="en-US" sz="2000"/>
              <a:t>List the key link/literature source that you cited in the reports</a:t>
            </a:r>
          </a:p>
        </p:txBody>
      </p:sp>
    </p:spTree>
    <p:extLst>
      <p:ext uri="{BB962C8B-B14F-4D97-AF65-F5344CB8AC3E}">
        <p14:creationId xmlns:p14="http://schemas.microsoft.com/office/powerpoint/2010/main" val="3436209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323232"/>
      </a:dk2>
      <a:lt2>
        <a:srgbClr val="E5C243"/>
      </a:lt2>
      <a:accent1>
        <a:srgbClr val="FF0000"/>
      </a:accent1>
      <a:accent2>
        <a:srgbClr val="656565"/>
      </a:accent2>
      <a:accent3>
        <a:srgbClr val="BF0000"/>
      </a:accent3>
      <a:accent4>
        <a:srgbClr val="8F0000"/>
      </a:accent4>
      <a:accent5>
        <a:srgbClr val="7F5F52"/>
      </a:accent5>
      <a:accent6>
        <a:srgbClr val="B27D49"/>
      </a:accent6>
      <a:hlink>
        <a:srgbClr val="6B9F25"/>
      </a:hlink>
      <a:folHlink>
        <a:srgbClr val="B26B0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Custom 2">
    <a:dk1>
      <a:sysClr val="windowText" lastClr="000000"/>
    </a:dk1>
    <a:lt1>
      <a:sysClr val="window" lastClr="FFFFFF"/>
    </a:lt1>
    <a:dk2>
      <a:srgbClr val="323232"/>
    </a:dk2>
    <a:lt2>
      <a:srgbClr val="E5C243"/>
    </a:lt2>
    <a:accent1>
      <a:srgbClr val="BF0000"/>
    </a:accent1>
    <a:accent2>
      <a:srgbClr val="656565"/>
    </a:accent2>
    <a:accent3>
      <a:srgbClr val="7F0000"/>
    </a:accent3>
    <a:accent4>
      <a:srgbClr val="7F0000"/>
    </a:accent4>
    <a:accent5>
      <a:srgbClr val="7F5F52"/>
    </a:accent5>
    <a:accent6>
      <a:srgbClr val="B27D49"/>
    </a:accent6>
    <a:hlink>
      <a:srgbClr val="6B9F25"/>
    </a:hlink>
    <a:folHlink>
      <a:srgbClr val="B26B02"/>
    </a:folHlink>
  </a:clrScheme>
</a:themeOverride>
</file>

<file path=docProps/app.xml><?xml version="1.0" encoding="utf-8"?>
<Properties xmlns="http://schemas.openxmlformats.org/officeDocument/2006/extended-properties" xmlns:vt="http://schemas.openxmlformats.org/officeDocument/2006/docPropsVTypes">
  <Template>Facet</Template>
  <TotalTime>2418</TotalTime>
  <Words>1222</Words>
  <Application>Microsoft Office PowerPoint</Application>
  <PresentationFormat>Widescreen</PresentationFormat>
  <Paragraphs>138</Paragraphs>
  <Slides>17</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Office Theme</vt:lpstr>
      <vt:lpstr>Senior Design Project Year Spring/Fall C.U.R.A</vt:lpstr>
      <vt:lpstr>Introduction/Background</vt:lpstr>
      <vt:lpstr>System Diagram</vt:lpstr>
      <vt:lpstr>System Data Flow</vt:lpstr>
      <vt:lpstr>Fall Detection on/off Mode and Med Reminder</vt:lpstr>
      <vt:lpstr>LLM Module (large language model)</vt:lpstr>
      <vt:lpstr>LLM Module (large language model)</vt:lpstr>
      <vt:lpstr>Help Request Button</vt:lpstr>
      <vt:lpstr>Help Request Button</vt:lpstr>
      <vt:lpstr>Healthcare Monitoring</vt:lpstr>
      <vt:lpstr>C.U.R.A Sensor Demonstration</vt:lpstr>
      <vt:lpstr>Function/Module Breakdown</vt:lpstr>
      <vt:lpstr>New Skills Learned</vt:lpstr>
      <vt:lpstr>Team Member Responsibilities</vt:lpstr>
      <vt:lpstr>Conclusions</vt:lpstr>
      <vt:lpstr>Acknowledgement</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Ming Zhu</dc:creator>
  <cp:lastModifiedBy>Darryll Mckoy</cp:lastModifiedBy>
  <cp:revision>66</cp:revision>
  <dcterms:created xsi:type="dcterms:W3CDTF">2025-04-16T22:38:31Z</dcterms:created>
  <dcterms:modified xsi:type="dcterms:W3CDTF">2025-11-21T02:36:21Z</dcterms:modified>
</cp:coreProperties>
</file>